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9"/>
  </p:notes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72" r:id="rId9"/>
    <p:sldId id="273" r:id="rId10"/>
    <p:sldId id="267" r:id="rId11"/>
    <p:sldId id="269" r:id="rId12"/>
    <p:sldId id="261" r:id="rId13"/>
    <p:sldId id="266" r:id="rId14"/>
    <p:sldId id="262" r:id="rId15"/>
    <p:sldId id="274" r:id="rId16"/>
    <p:sldId id="263" r:id="rId17"/>
    <p:sldId id="270" r:id="rId18"/>
    <p:sldId id="271" r:id="rId19"/>
    <p:sldId id="275" r:id="rId20"/>
    <p:sldId id="276" r:id="rId21"/>
    <p:sldId id="277" r:id="rId22"/>
    <p:sldId id="278" r:id="rId23"/>
    <p:sldId id="279" r:id="rId24"/>
    <p:sldId id="280" r:id="rId25"/>
    <p:sldId id="282" r:id="rId26"/>
    <p:sldId id="283" r:id="rId27"/>
    <p:sldId id="284" r:id="rId28"/>
    <p:sldId id="281" r:id="rId29"/>
    <p:sldId id="285" r:id="rId30"/>
    <p:sldId id="286" r:id="rId31"/>
    <p:sldId id="287" r:id="rId32"/>
    <p:sldId id="288" r:id="rId33"/>
    <p:sldId id="289" r:id="rId34"/>
    <p:sldId id="291" r:id="rId35"/>
    <p:sldId id="290" r:id="rId36"/>
    <p:sldId id="293" r:id="rId37"/>
    <p:sldId id="292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2" r:id="rId46"/>
    <p:sldId id="304" r:id="rId47"/>
    <p:sldId id="301" r:id="rId48"/>
    <p:sldId id="303" r:id="rId49"/>
    <p:sldId id="305" r:id="rId50"/>
    <p:sldId id="312" r:id="rId51"/>
    <p:sldId id="311" r:id="rId52"/>
    <p:sldId id="306" r:id="rId53"/>
    <p:sldId id="307" r:id="rId54"/>
    <p:sldId id="308" r:id="rId55"/>
    <p:sldId id="310" r:id="rId56"/>
    <p:sldId id="313" r:id="rId57"/>
    <p:sldId id="314" r:id="rId58"/>
    <p:sldId id="315" r:id="rId59"/>
    <p:sldId id="316" r:id="rId60"/>
    <p:sldId id="317" r:id="rId61"/>
    <p:sldId id="318" r:id="rId62"/>
    <p:sldId id="319" r:id="rId63"/>
    <p:sldId id="320" r:id="rId64"/>
    <p:sldId id="321" r:id="rId65"/>
    <p:sldId id="322" r:id="rId66"/>
    <p:sldId id="323" r:id="rId67"/>
    <p:sldId id="325" r:id="rId6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LL" initials="D" lastIdx="1" clrIdx="0">
    <p:extLst>
      <p:ext uri="{19B8F6BF-5375-455C-9EA6-DF929625EA0E}">
        <p15:presenceInfo xmlns:p15="http://schemas.microsoft.com/office/powerpoint/2012/main" userId="DEL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85" autoAdjust="0"/>
    <p:restoredTop sz="93476"/>
  </p:normalViewPr>
  <p:slideViewPr>
    <p:cSldViewPr snapToGrid="0">
      <p:cViewPr varScale="1">
        <p:scale>
          <a:sx n="130" d="100"/>
          <a:sy n="130" d="100"/>
        </p:scale>
        <p:origin x="8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E1B5AE-C3B2-48B2-9928-488A30EEDF82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825D9E-5FFC-4238-A10C-295D022F2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57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3BE95-6F30-AFCC-00F6-4E4654410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88CB56-0207-02B0-B167-DB90E00DE4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A2EA32-3EAA-10B5-0805-7E4ACB2F97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1D4ADE-EDC9-06EB-09A0-E479392B6C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25D9E-5FFC-4238-A10C-295D022F26A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5370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FDB42-1A87-7127-6C19-63A5B2F10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CBF383-7FB4-003D-A7C3-663C042473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281ACB-924C-0EA3-8897-8F10CB2099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7B38B5-C8C1-326A-330D-FEED0FCB67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25D9E-5FFC-4238-A10C-295D022F26A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1825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25D9E-5FFC-4238-A10C-295D022F26A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2295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6B292-6442-0163-9EC5-56D3446F81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B53B04-5F9F-F3F9-E8E5-9B6122B4EA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0A77A-B4E7-054E-D1E5-C29D473D8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CC328-1D5A-4916-A2B0-FE9DFA555F95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C3BD2C-0DED-CDCC-01FC-8E98FE9B8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3AE458-CE78-FA43-4BAF-F210A83ED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5B9A3-3D8B-4B86-8589-5971A2748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557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B5A3C-A360-BC10-9263-E0120D00E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B9CA9-AB8F-F77D-7403-CB70D0D3F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D803C2-31AF-F0FD-BC7F-E7919CE41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CC328-1D5A-4916-A2B0-FE9DFA555F95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ACCC57-FE02-CA42-8875-7CE02AC67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F4498B-78D9-1AE9-250B-4DCEA5318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5B9A3-3D8B-4B86-8589-5971A2748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105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0119C-1561-1711-9291-BCC89318F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0923EA-3B6C-3DA5-E2BC-BD93C5A8BF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BAFC1-64A0-EF75-E758-B3E9D8D49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CC328-1D5A-4916-A2B0-FE9DFA555F95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82F71-5348-09D4-86D2-251D5B40A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804824-E52B-9336-AC9B-225BD9C86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5B9A3-3D8B-4B86-8589-5971A2748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226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BABC8-BBA8-DB0A-4B5A-82D7EFAC3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EFF79-E51B-BA29-6169-F8B5EEDE56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B96024-C4B6-7CA9-BC46-4FF064C981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3D745A-B3AD-EA0E-A51E-DD9A6979D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CC328-1D5A-4916-A2B0-FE9DFA555F95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361D4F-7E21-E271-14B3-1425F1EF1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9352E4-9922-759E-2447-8F7604FF0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5B9A3-3D8B-4B86-8589-5971A2748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875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038C4-67FE-F9DA-3665-F1BF6FA97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1FDAD1-5D27-AC1F-D2AC-635387228A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66FDE4-7F7E-7E46-6DDB-F607BBF6E7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22F3F1-DA3C-9010-49E2-2CC6C28166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71F48B-968E-A493-8BBD-43F9F9ED1F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02099A-B3C1-97F1-BAF7-F11B7333E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CC328-1D5A-4916-A2B0-FE9DFA555F95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3FD02C-2309-94E4-F31C-19A5C6F8E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0F182E-57EF-D9F4-7616-ED57D95AB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5B9A3-3D8B-4B86-8589-5971A2748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39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46798-4FC7-0379-9B11-8A85C3205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1B7301-EFD7-9406-B5B7-869A40C2C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CC328-1D5A-4916-A2B0-FE9DFA555F95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BFCF2E-5676-5E64-4F7B-FAEB07A50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228511-3241-64C3-1806-636438D41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5B9A3-3D8B-4B86-8589-5971A2748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760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F6018A-70AB-A2AA-B3C1-8668EFEE8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CC328-1D5A-4916-A2B0-FE9DFA555F95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884DEC-D4EC-FC48-A331-01B6785E7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0CB34-08EE-099B-26FB-05E1BC31C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5B9A3-3D8B-4B86-8589-5971A2748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308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9F897-8ADE-0107-4F1F-844DDB430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AE32F-0F31-2B89-2E15-1E6DFC554E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82FA45-1E35-5CB7-8E67-55D89456EA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882386-BDF5-53F1-E7CF-E8641476C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CC328-1D5A-4916-A2B0-FE9DFA555F95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B81BCB-D23A-09D5-09F5-8CF535124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E125D7-868D-85FF-4EEF-3AAEF76C2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5B9A3-3D8B-4B86-8589-5971A2748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877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C5669-B73F-C84D-9C71-5836E695F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96C6F1-B013-C67D-D937-8F2B670323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3A341C-3847-704F-7ACF-4BF0ACC097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419A96-183E-CDF4-C411-85DF895AE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CC328-1D5A-4916-A2B0-FE9DFA555F95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7B68A4-767C-FFF3-416A-7B89C1321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E44553-7E4B-AF63-2534-75C815E4D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5B9A3-3D8B-4B86-8589-5971A2748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64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D019E-9734-47A0-07C2-F40F87AC2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A9BB57-7FF5-68C3-696F-AEF816AE0B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65CAE-06E1-D95F-4D70-455B23C05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CC328-1D5A-4916-A2B0-FE9DFA555F95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DF6FEC-1C9C-1820-F384-2FBCA3549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B7C90-56F6-F918-A5CA-593795D82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5B9A3-3D8B-4B86-8589-5971A2748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933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7885CE-E9AB-A995-7726-963CCC2DB0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6DCFD2-F44E-B46F-55CC-E92466DD6F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A18EA6-5C1C-6A0C-62FB-6B70F40E5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CC328-1D5A-4916-A2B0-FE9DFA555F95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87D29B-3B3A-C166-FC27-DE68F9A76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7E798B-0557-C206-5F6F-B15723CF6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5B9A3-3D8B-4B86-8589-5971A2748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949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D1331F-5E22-2A22-D39A-73B1C7448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65125"/>
            <a:ext cx="100965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DD0D2B-0EDC-5702-33A2-1795602588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94533-6845-8927-D0C5-819B3D6428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ECC328-1D5A-4916-A2B0-FE9DFA555F95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16460-3CFA-C479-C257-1F56456B66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D21343-09E7-F91B-BE6C-E78F0A6DF5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C5B9A3-3D8B-4B86-8589-5971A274806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309CDC-B38E-BB64-FDE8-33E322CD86C6}"/>
              </a:ext>
            </a:extLst>
          </p:cNvPr>
          <p:cNvSpPr/>
          <p:nvPr userDrawn="1"/>
        </p:nvSpPr>
        <p:spPr>
          <a:xfrm>
            <a:off x="504824" y="774699"/>
            <a:ext cx="40957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3345B4-52A6-E1F0-0843-F53EA6103CAD}"/>
              </a:ext>
            </a:extLst>
          </p:cNvPr>
          <p:cNvSpPr/>
          <p:nvPr userDrawn="1"/>
        </p:nvSpPr>
        <p:spPr>
          <a:xfrm>
            <a:off x="709612" y="956468"/>
            <a:ext cx="409575" cy="4191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386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50000"/>
        </a:lnSpc>
        <a:spcBef>
          <a:spcPct val="0"/>
        </a:spcBef>
        <a:buNone/>
        <a:defRPr sz="4000" kern="1200">
          <a:solidFill>
            <a:schemeClr val="accent4">
              <a:lumMod val="20000"/>
              <a:lumOff val="80000"/>
            </a:schemeClr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just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bg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just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bg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just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bg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just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bg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just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bg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1.wav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1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1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1.wav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1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1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1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1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1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1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1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1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1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1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1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1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1.wav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1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46EE5-E4D6-8C7F-7FF8-C2388135D0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31149" y="2947555"/>
            <a:ext cx="3670169" cy="1247530"/>
          </a:xfrm>
        </p:spPr>
        <p:txBody>
          <a:bodyPr>
            <a:normAutofit fontScale="90000"/>
          </a:bodyPr>
          <a:lstStyle/>
          <a:p>
            <a:r>
              <a:rPr lang="en-US" dirty="0"/>
              <a:t>Lecture - 0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21F6E5-544E-F1C6-1C83-6F1C717490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18407" y="4546013"/>
            <a:ext cx="4763679" cy="817840"/>
          </a:xfrm>
        </p:spPr>
        <p:txBody>
          <a:bodyPr/>
          <a:lstStyle/>
          <a:p>
            <a:r>
              <a:rPr lang="en-US" dirty="0"/>
              <a:t>Dr. Myat Mon Aye(StudyRightNow)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F7755C-F253-69B2-7A94-C216D25068CF}"/>
              </a:ext>
            </a:extLst>
          </p:cNvPr>
          <p:cNvSpPr/>
          <p:nvPr/>
        </p:nvSpPr>
        <p:spPr>
          <a:xfrm>
            <a:off x="2612908" y="1255774"/>
            <a:ext cx="6201153" cy="178510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1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>
                    <a:lumMod val="95000"/>
                  </a:schemeClr>
                </a:solidFill>
                <a:latin typeface="Cooper Black" panose="0208090404030B020404" pitchFamily="18" charset="0"/>
              </a:rPr>
              <a:t>ReactJS</a:t>
            </a:r>
            <a:endParaRPr lang="en-US" sz="11000" b="1" cap="none" spc="0" dirty="0">
              <a:ln w="22225">
                <a:solidFill>
                  <a:schemeClr val="tx1"/>
                </a:solidFill>
                <a:prstDash val="solid"/>
              </a:ln>
              <a:solidFill>
                <a:schemeClr val="bg1">
                  <a:lumMod val="95000"/>
                </a:schemeClr>
              </a:solidFill>
              <a:effectLst/>
              <a:latin typeface="Cooper Black" panose="0208090404030B0204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224D44-F470-FA84-BC7E-78CDDF1BD4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2086" y="1256859"/>
            <a:ext cx="1897922" cy="1690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478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>
        <p14:reveal/>
        <p:sndAc>
          <p:stSnd>
            <p:snd r:embed="rId2" name="Wavecont-Inspire-Full-Length-WAV.wav"/>
          </p:stSnd>
        </p:sndAc>
      </p:transition>
    </mc:Choice>
    <mc:Fallback xmlns="">
      <p:transition spd="slow">
        <p:fade/>
        <p:sndAc>
          <p:stSnd>
            <p:snd r:embed="rId4" name="Wavecont-Inspire-Full-Length-WAV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BF9EC-A05F-2403-44FD-1559EABF0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ReactJS?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7AAE2-2685-B2C4-98AB-EF3E4A396F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React (Or ReactJS, React.js) is an open-source JavaScript library to build reusable interface components.</a:t>
            </a:r>
          </a:p>
          <a:p>
            <a:r>
              <a:rPr lang="en-US" dirty="0"/>
              <a:t>React's main goal is fast, simple, high performance and easy to extend.</a:t>
            </a:r>
          </a:p>
          <a:p>
            <a:r>
              <a:rPr lang="en-US" dirty="0"/>
              <a:t>it is created by Facebook.</a:t>
            </a:r>
          </a:p>
          <a:p>
            <a:r>
              <a:rPr lang="en-US" dirty="0"/>
              <a:t>It solves the matters of View layer in the MVC (Model-View-Controller).</a:t>
            </a:r>
          </a:p>
          <a:p>
            <a:r>
              <a:rPr lang="en-US" dirty="0"/>
              <a:t>React allows developers to create interface Components which can be reused, or combined with other components to create a complete interface.</a:t>
            </a:r>
          </a:p>
        </p:txBody>
      </p:sp>
    </p:spTree>
    <p:extLst>
      <p:ext uri="{BB962C8B-B14F-4D97-AF65-F5344CB8AC3E}">
        <p14:creationId xmlns:p14="http://schemas.microsoft.com/office/powerpoint/2010/main" val="3993508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3D702-44C3-DEE6-B311-772F94F8E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48380-5AA5-A5FF-3D31-886D49F269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idea of Component is the key to solving difficulties when the project becomes bigger and bigger. </a:t>
            </a:r>
          </a:p>
          <a:p>
            <a:r>
              <a:rPr lang="en-US" dirty="0"/>
              <a:t>The interface is created from coupling of components. </a:t>
            </a:r>
          </a:p>
          <a:p>
            <a:r>
              <a:rPr lang="en-US" dirty="0"/>
              <a:t>A component can be used in many places in the project.</a:t>
            </a:r>
          </a:p>
          <a:p>
            <a:r>
              <a:rPr lang="en-US" dirty="0"/>
              <a:t>Therefore, it's really easy when you need to manage and repair only your own Components.</a:t>
            </a:r>
          </a:p>
        </p:txBody>
      </p:sp>
    </p:spTree>
    <p:extLst>
      <p:ext uri="{BB962C8B-B14F-4D97-AF65-F5344CB8AC3E}">
        <p14:creationId xmlns:p14="http://schemas.microsoft.com/office/powerpoint/2010/main" val="1817828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FC1AB-2E99-B065-E526-3F6DB3B8F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349BD-D68F-F955-805E-1642331CB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Boost performance with Virtual-DOM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6E8BC-5CF6-ACA8-4D7D-2A181DD989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data of Component changes, the React needs to retender interface.</a:t>
            </a:r>
          </a:p>
          <a:p>
            <a:r>
              <a:rPr lang="en-US" dirty="0"/>
              <a:t>Instead of making direct changes to the browser's DOM model, it makes a change on a virtual DOM model. </a:t>
            </a:r>
          </a:p>
          <a:p>
            <a:r>
              <a:rPr lang="en-US" dirty="0"/>
              <a:t>It then calculates the difference between the two DOM models, and only updates the differences for the browser’s DOM. </a:t>
            </a:r>
          </a:p>
          <a:p>
            <a:r>
              <a:rPr lang="en-US" dirty="0"/>
              <a:t>This approach brings performance to the application.</a:t>
            </a:r>
          </a:p>
        </p:txBody>
      </p:sp>
    </p:spTree>
    <p:extLst>
      <p:ext uri="{BB962C8B-B14F-4D97-AF65-F5344CB8AC3E}">
        <p14:creationId xmlns:p14="http://schemas.microsoft.com/office/powerpoint/2010/main" val="2212393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5C571-915B-3C05-12BB-5CD32C6E8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Friendly with SEO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4A8EC-0FEB-2C4B-8DD4-CFA3B4249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React can run at the Client side, but it can also run at the Server side, therefore, the data returned to the browser is HTML text, it does not </a:t>
            </a:r>
            <a:r>
              <a:rPr lang="en-US" dirty="0" err="1"/>
              <a:t>causeany</a:t>
            </a:r>
            <a:r>
              <a:rPr lang="en-US" dirty="0"/>
              <a:t> problems for the Search Engines, therefore, it is friendly to SEO.</a:t>
            </a:r>
          </a:p>
        </p:txBody>
      </p:sp>
    </p:spTree>
    <p:extLst>
      <p:ext uri="{BB962C8B-B14F-4D97-AF65-F5344CB8AC3E}">
        <p14:creationId xmlns:p14="http://schemas.microsoft.com/office/powerpoint/2010/main" val="3163677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7BB8A-21C0-CA63-7832-C46CE5356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ReactJS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4C66F-3F5D-E4A7-A29C-B2697F43E2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44645" cy="4351338"/>
          </a:xfrm>
        </p:spPr>
        <p:txBody>
          <a:bodyPr/>
          <a:lstStyle/>
          <a:p>
            <a:r>
              <a:rPr lang="en-US" dirty="0"/>
              <a:t>Download and Install </a:t>
            </a:r>
            <a:r>
              <a:rPr lang="en-US" dirty="0" err="1"/>
              <a:t>nodejs</a:t>
            </a:r>
            <a:r>
              <a:rPr lang="en-US" dirty="0"/>
              <a:t> (nodejs.org)</a:t>
            </a:r>
          </a:p>
          <a:p>
            <a:r>
              <a:rPr lang="en-US" dirty="0"/>
              <a:t>Type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node –v</a:t>
            </a:r>
            <a:r>
              <a:rPr lang="en-US" dirty="0"/>
              <a:t> in command prompt or terminal to check node version</a:t>
            </a:r>
          </a:p>
          <a:p>
            <a:r>
              <a:rPr lang="en-US" dirty="0" err="1"/>
              <a:t>npm</a:t>
            </a:r>
            <a:r>
              <a:rPr lang="en-US" dirty="0"/>
              <a:t> create </a:t>
            </a:r>
            <a:r>
              <a:rPr lang="en-US" dirty="0" err="1"/>
              <a:t>vite@latest</a:t>
            </a:r>
            <a:r>
              <a:rPr lang="en-US" dirty="0"/>
              <a:t> your-project-name</a:t>
            </a:r>
          </a:p>
          <a:p>
            <a:r>
              <a:rPr lang="en-US" dirty="0"/>
              <a:t>cd your-project-name</a:t>
            </a:r>
          </a:p>
          <a:p>
            <a:r>
              <a:rPr lang="en-US" dirty="0" err="1"/>
              <a:t>npm</a:t>
            </a:r>
            <a:r>
              <a:rPr lang="en-US" dirty="0"/>
              <a:t> run dev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FC39D01-8A66-8515-4844-6BF3E69798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32607" b="30709"/>
          <a:stretch>
            <a:fillRect/>
          </a:stretch>
        </p:blipFill>
        <p:spPr>
          <a:xfrm>
            <a:off x="8252441" y="2736735"/>
            <a:ext cx="3101359" cy="1137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016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32D9E-B43D-1EC9-6D24-56A1AB635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4977B-7FF1-69D6-2519-D1A366F7CD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Install ES7+ React/Redux/React-Native snippets extension</a:t>
            </a:r>
          </a:p>
          <a:p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</a:rPr>
              <a:t>rafce</a:t>
            </a:r>
            <a:r>
              <a:rPr lang="en-US" dirty="0"/>
              <a:t> → React Arrow Function Component Export</a:t>
            </a:r>
          </a:p>
          <a:p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</a:rPr>
              <a:t>rfce</a:t>
            </a:r>
            <a:r>
              <a:rPr lang="en-US" dirty="0"/>
              <a:t> → React Functional Component Export</a:t>
            </a:r>
          </a:p>
          <a:p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</a:rPr>
              <a:t>rce</a:t>
            </a:r>
            <a:r>
              <a:rPr lang="en-US" dirty="0"/>
              <a:t> → React Class Export Component</a:t>
            </a:r>
          </a:p>
        </p:txBody>
      </p:sp>
    </p:spTree>
    <p:extLst>
      <p:ext uri="{BB962C8B-B14F-4D97-AF65-F5344CB8AC3E}">
        <p14:creationId xmlns:p14="http://schemas.microsoft.com/office/powerpoint/2010/main" val="1780413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0E01C9E-C996-96B2-B77E-F355F986E514}"/>
              </a:ext>
            </a:extLst>
          </p:cNvPr>
          <p:cNvSpPr/>
          <p:nvPr/>
        </p:nvSpPr>
        <p:spPr>
          <a:xfrm>
            <a:off x="2724098" y="1966308"/>
            <a:ext cx="620814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Thank You!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5FEB07-5A14-4359-FB7E-8D4569B19F1C}"/>
              </a:ext>
            </a:extLst>
          </p:cNvPr>
          <p:cNvCxnSpPr/>
          <p:nvPr/>
        </p:nvCxnSpPr>
        <p:spPr>
          <a:xfrm>
            <a:off x="2358338" y="3599848"/>
            <a:ext cx="693966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8FAAFD3-5285-A55F-1A75-B6993D226A93}"/>
              </a:ext>
            </a:extLst>
          </p:cNvPr>
          <p:cNvSpPr txBox="1"/>
          <p:nvPr/>
        </p:nvSpPr>
        <p:spPr>
          <a:xfrm>
            <a:off x="3801979" y="4283317"/>
            <a:ext cx="4312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M" dirty="0">
                <a:solidFill>
                  <a:schemeClr val="bg1"/>
                </a:solidFill>
              </a:rPr>
              <a:t>info@studyrightnow-mdy.com</a:t>
            </a:r>
          </a:p>
        </p:txBody>
      </p:sp>
    </p:spTree>
    <p:extLst>
      <p:ext uri="{BB962C8B-B14F-4D97-AF65-F5344CB8AC3E}">
        <p14:creationId xmlns:p14="http://schemas.microsoft.com/office/powerpoint/2010/main" val="2431708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46EE5-E4D6-8C7F-7FF8-C2388135D0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0932" y="3108960"/>
            <a:ext cx="8807116" cy="107286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Lecture – 1 (Components)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21F6E5-544E-F1C6-1C83-6F1C717490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18407" y="4546013"/>
            <a:ext cx="4763679" cy="817840"/>
          </a:xfrm>
        </p:spPr>
        <p:txBody>
          <a:bodyPr/>
          <a:lstStyle/>
          <a:p>
            <a:r>
              <a:rPr lang="en-US" dirty="0"/>
              <a:t>Dr. Myat Mon Aye(StudyRightNow)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F7755C-F253-69B2-7A94-C216D25068CF}"/>
              </a:ext>
            </a:extLst>
          </p:cNvPr>
          <p:cNvSpPr/>
          <p:nvPr/>
        </p:nvSpPr>
        <p:spPr>
          <a:xfrm>
            <a:off x="2612908" y="1255774"/>
            <a:ext cx="6201153" cy="178510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1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>
                    <a:lumMod val="95000"/>
                  </a:schemeClr>
                </a:solidFill>
                <a:latin typeface="Cooper Black" panose="0208090404030B020404" pitchFamily="18" charset="0"/>
              </a:rPr>
              <a:t>ReactJS</a:t>
            </a:r>
            <a:endParaRPr lang="en-US" sz="11000" b="1" cap="none" spc="0" dirty="0">
              <a:ln w="22225">
                <a:solidFill>
                  <a:schemeClr val="tx1"/>
                </a:solidFill>
                <a:prstDash val="solid"/>
              </a:ln>
              <a:solidFill>
                <a:schemeClr val="bg1">
                  <a:lumMod val="95000"/>
                </a:schemeClr>
              </a:solidFill>
              <a:effectLst/>
              <a:latin typeface="Cooper Black" panose="0208090404030B0204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224D44-F470-FA84-BC7E-78CDDF1BD4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2086" y="1256859"/>
            <a:ext cx="1897922" cy="1690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433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>
        <p14:reveal/>
        <p:sndAc>
          <p:stSnd>
            <p:snd r:embed="rId2" name="Wavecont-Inspire-Full-Length-WAV.wav"/>
          </p:stSnd>
        </p:sndAc>
      </p:transition>
    </mc:Choice>
    <mc:Fallback xmlns="">
      <p:transition spd="slow">
        <p:fade/>
        <p:sndAc>
          <p:stSnd>
            <p:snd r:embed="rId4" name="Wavecont-Inspire-Full-Length-WAV.wav"/>
          </p:stSnd>
        </p:sndAc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7258A-099D-E2C9-28D9-3E0ED5D4C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151EE-BA40-487C-84B2-4C0403F15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65125"/>
            <a:ext cx="4019550" cy="132556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Class Component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38866-602B-8482-B0B0-7FE431570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38650" cy="4351338"/>
          </a:xfrm>
        </p:spPr>
        <p:txBody>
          <a:bodyPr/>
          <a:lstStyle/>
          <a:p>
            <a:r>
              <a:rPr lang="en-US" dirty="0"/>
              <a:t>"props" stands for "properties", but it is a concept in the ReactJS.</a:t>
            </a:r>
          </a:p>
          <a:p>
            <a:r>
              <a:rPr lang="en-US" dirty="0"/>
              <a:t>Basically, the props is an object. It stores the values of attributes of a Tag.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16664C-2A89-0D2C-2E97-25C1ED723BD2}"/>
              </a:ext>
            </a:extLst>
          </p:cNvPr>
          <p:cNvSpPr txBox="1"/>
          <p:nvPr/>
        </p:nvSpPr>
        <p:spPr>
          <a:xfrm>
            <a:off x="5373279" y="481093"/>
            <a:ext cx="5322216" cy="50193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ts val="1650"/>
              </a:lnSpc>
              <a:buNone/>
            </a:pPr>
            <a:endParaRPr lang="en-US" b="0" dirty="0">
              <a:solidFill>
                <a:srgbClr val="AF00D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{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Component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'react'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book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Component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render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author: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props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author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&lt;h1&gt;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props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&lt;/h1&gt;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 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)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book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C6F91D-BF51-14DE-48DA-086E784CF286}"/>
              </a:ext>
            </a:extLst>
          </p:cNvPr>
          <p:cNvSpPr txBox="1"/>
          <p:nvPr/>
        </p:nvSpPr>
        <p:spPr>
          <a:xfrm>
            <a:off x="4829273" y="5335571"/>
            <a:ext cx="6410228" cy="144655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None/>
            </a:pPr>
            <a:endParaRPr lang="en-US" sz="1600" b="0" dirty="0">
              <a:solidFill>
                <a:srgbClr val="8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Book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my-MM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မျိုးဆက်သစ်တို့ တိုးတက်ရစ်ဖို့"</a:t>
            </a:r>
            <a:r>
              <a:rPr lang="my-MM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author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my-MM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အောင်သင်း"</a:t>
            </a:r>
            <a:r>
              <a:rPr lang="my-MM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my-MM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my-MM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Book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my-MM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သူလိုလူ"</a:t>
            </a:r>
            <a:r>
              <a:rPr lang="my-MM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author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my-MM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ဂျာနယ်ကျော် မမလေး"</a:t>
            </a:r>
            <a:r>
              <a:rPr lang="my-MM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my-MM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endParaRPr lang="en-US" sz="1600" dirty="0"/>
          </a:p>
        </p:txBody>
      </p:sp>
      <p:cxnSp>
        <p:nvCxnSpPr>
          <p:cNvPr id="8" name="Connector: Curved 7">
            <a:extLst>
              <a:ext uri="{FF2B5EF4-FFF2-40B4-BE49-F238E27FC236}">
                <a16:creationId xmlns:a16="http://schemas.microsoft.com/office/drawing/2014/main" id="{087A33DE-7E25-54D0-5C11-0279358C831F}"/>
              </a:ext>
            </a:extLst>
          </p:cNvPr>
          <p:cNvCxnSpPr>
            <a:cxnSpLocks/>
          </p:cNvCxnSpPr>
          <p:nvPr/>
        </p:nvCxnSpPr>
        <p:spPr>
          <a:xfrm rot="16200000" flipV="1">
            <a:off x="8652279" y="2920781"/>
            <a:ext cx="3043987" cy="1785593"/>
          </a:xfrm>
          <a:prstGeom prst="curvedConnector3">
            <a:avLst>
              <a:gd name="adj1" fmla="val 113176"/>
            </a:avLst>
          </a:prstGeom>
          <a:ln w="28575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59514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73C9D-B3D3-C761-3E08-DF2ADA164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72D8A-C51C-DAEA-D0AA-CC4A33F3E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65125"/>
            <a:ext cx="4019550" cy="132556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Class with PropTypes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4A877-60FF-8672-48BB-114C5A4DB8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38650" cy="4351338"/>
          </a:xfrm>
        </p:spPr>
        <p:txBody>
          <a:bodyPr/>
          <a:lstStyle/>
          <a:p>
            <a:pPr algn="l"/>
            <a:r>
              <a:rPr lang="en-US" dirty="0" err="1"/>
              <a:t>Rcep</a:t>
            </a:r>
            <a:r>
              <a:rPr lang="en-US" dirty="0"/>
              <a:t> -&gt; Class Component + PropTypes validation</a:t>
            </a:r>
          </a:p>
          <a:p>
            <a:pPr algn="l"/>
            <a:r>
              <a:rPr lang="en-US" dirty="0" err="1"/>
              <a:t>npm</a:t>
            </a:r>
            <a:r>
              <a:rPr lang="en-US" dirty="0"/>
              <a:t> install prop-types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7553F3-4885-4832-32D1-9D1B60F122EE}"/>
              </a:ext>
            </a:extLst>
          </p:cNvPr>
          <p:cNvSpPr txBox="1"/>
          <p:nvPr/>
        </p:nvSpPr>
        <p:spPr>
          <a:xfrm>
            <a:off x="5392132" y="263293"/>
            <a:ext cx="6495067" cy="633141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PropTypes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'prop-types'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{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Component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'react'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book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Component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propTypes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title:</a:t>
            </a:r>
            <a:r>
              <a:rPr lang="en-US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PropTypes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author:</a:t>
            </a:r>
            <a:r>
              <a:rPr lang="en-US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PropTypes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string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render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&lt;h1&gt;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props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&lt;/h1&gt;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author :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props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author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)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book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58321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5AAA0-2468-7D45-A522-922A9BF61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65125"/>
            <a:ext cx="4019550" cy="132556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Component with props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032C5-2170-FD65-2870-5F29478C1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38650" cy="4351338"/>
          </a:xfrm>
        </p:spPr>
        <p:txBody>
          <a:bodyPr/>
          <a:lstStyle/>
          <a:p>
            <a:r>
              <a:rPr lang="en-US" dirty="0"/>
              <a:t>"props" stands for "properties", but it is a concept in the ReactJS.</a:t>
            </a:r>
          </a:p>
          <a:p>
            <a:r>
              <a:rPr lang="en-US" dirty="0"/>
              <a:t>Basically, the props is an object. It stores the values of attributes of a Tag.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1764C3-708B-6134-7818-D52FA865EC6A}"/>
              </a:ext>
            </a:extLst>
          </p:cNvPr>
          <p:cNvSpPr txBox="1"/>
          <p:nvPr/>
        </p:nvSpPr>
        <p:spPr>
          <a:xfrm>
            <a:off x="5373279" y="481093"/>
            <a:ext cx="5322216" cy="428065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ts val="1650"/>
              </a:lnSpc>
              <a:buNone/>
            </a:pPr>
            <a:endParaRPr lang="en-US" b="0" dirty="0">
              <a:solidFill>
                <a:srgbClr val="AF00D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'react'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Book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props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author: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props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author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&lt;h1&gt;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props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&lt;/h1&gt;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 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)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Book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D852A0-2A38-8543-82A9-263B3941B689}"/>
              </a:ext>
            </a:extLst>
          </p:cNvPr>
          <p:cNvSpPr txBox="1"/>
          <p:nvPr/>
        </p:nvSpPr>
        <p:spPr>
          <a:xfrm>
            <a:off x="5373279" y="5025356"/>
            <a:ext cx="6410228" cy="144655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None/>
            </a:pPr>
            <a:endParaRPr lang="en-US" sz="1600" b="0" dirty="0">
              <a:solidFill>
                <a:srgbClr val="8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Book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my-MM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မျိုးဆက်သစ်တို့ တိုးတက်ရစ်ဖို့"</a:t>
            </a:r>
            <a:r>
              <a:rPr lang="my-MM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author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my-MM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အောင်သင်း"</a:t>
            </a:r>
            <a:r>
              <a:rPr lang="my-MM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my-MM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my-MM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Book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my-MM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သူလိုလူ"</a:t>
            </a:r>
            <a:r>
              <a:rPr lang="my-MM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author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my-MM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ဂျာနယ်ကျော် မမလေး"</a:t>
            </a:r>
            <a:r>
              <a:rPr lang="my-MM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my-MM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endParaRPr lang="en-US" sz="1600" dirty="0"/>
          </a:p>
        </p:txBody>
      </p:sp>
      <p:cxnSp>
        <p:nvCxnSpPr>
          <p:cNvPr id="8" name="Connector: Curved 7">
            <a:extLst>
              <a:ext uri="{FF2B5EF4-FFF2-40B4-BE49-F238E27FC236}">
                <a16:creationId xmlns:a16="http://schemas.microsoft.com/office/drawing/2014/main" id="{067BA0AD-61F5-A237-B3F3-2113766D3732}"/>
              </a:ext>
            </a:extLst>
          </p:cNvPr>
          <p:cNvCxnSpPr>
            <a:cxnSpLocks/>
          </p:cNvCxnSpPr>
          <p:nvPr/>
        </p:nvCxnSpPr>
        <p:spPr>
          <a:xfrm rot="16200000" flipV="1">
            <a:off x="8652279" y="2920781"/>
            <a:ext cx="3043987" cy="1785593"/>
          </a:xfrm>
          <a:prstGeom prst="curvedConnector3">
            <a:avLst>
              <a:gd name="adj1" fmla="val 113176"/>
            </a:avLst>
          </a:prstGeom>
          <a:ln w="28575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5375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2B237-8BD9-F8D4-6666-AF7961414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Destructuring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FFCA1-6802-C12A-3203-7F20C9F3B0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80175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const person = { name: "Alice", age: 25 }</a:t>
            </a:r>
          </a:p>
          <a:p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// Normal way</a:t>
            </a:r>
          </a:p>
          <a:p>
            <a:r>
              <a:rPr lang="en-US" dirty="0"/>
              <a:t>console.log(person.name)  </a:t>
            </a:r>
          </a:p>
          <a:p>
            <a:r>
              <a:rPr lang="en-US" dirty="0"/>
              <a:t>console.log(</a:t>
            </a:r>
            <a:r>
              <a:rPr lang="en-US" dirty="0" err="1"/>
              <a:t>person.age</a:t>
            </a:r>
            <a:r>
              <a:rPr lang="en-US" dirty="0"/>
              <a:t>)  </a:t>
            </a:r>
          </a:p>
          <a:p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//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</a:rPr>
              <a:t>Destructuring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way</a:t>
            </a:r>
          </a:p>
          <a:p>
            <a:r>
              <a:rPr lang="en-US" dirty="0"/>
              <a:t>const { name, age } = person</a:t>
            </a:r>
          </a:p>
          <a:p>
            <a:r>
              <a:rPr lang="en-US" dirty="0"/>
              <a:t>console.log(name) </a:t>
            </a:r>
          </a:p>
          <a:p>
            <a:r>
              <a:rPr lang="en-US" dirty="0"/>
              <a:t>console.log(age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AA2921-D17C-CB69-A869-B22639926DC7}"/>
              </a:ext>
            </a:extLst>
          </p:cNvPr>
          <p:cNvSpPr txBox="1"/>
          <p:nvPr/>
        </p:nvSpPr>
        <p:spPr>
          <a:xfrm>
            <a:off x="6096000" y="821651"/>
            <a:ext cx="5376421" cy="535531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None/>
            </a:pPr>
            <a:endParaRPr lang="en-US" b="0" dirty="0">
              <a:solidFill>
                <a:srgbClr val="AF00D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'react'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Book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({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author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50000"/>
              </a:lnSpc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ct val="150000"/>
              </a:lnSpc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author: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author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&lt;h1&gt;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&lt;/h1&gt;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 </a:t>
            </a:r>
          </a:p>
          <a:p>
            <a:pPr>
              <a:lnSpc>
                <a:spcPct val="150000"/>
              </a:lnSpc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)</a:t>
            </a:r>
          </a:p>
          <a:p>
            <a:pPr>
              <a:lnSpc>
                <a:spcPct val="150000"/>
              </a:lnSpc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50000"/>
              </a:lnSpc>
              <a:buNone/>
            </a:pP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Book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41984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14D90-E4BE-4B00-4D48-474295C52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Default Props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8D35C7-1C14-978A-A03B-702EB792F565}"/>
              </a:ext>
            </a:extLst>
          </p:cNvPr>
          <p:cNvSpPr txBox="1"/>
          <p:nvPr/>
        </p:nvSpPr>
        <p:spPr>
          <a:xfrm>
            <a:off x="311084" y="1589291"/>
            <a:ext cx="11569831" cy="5033814"/>
          </a:xfrm>
          <a:prstGeom prst="rect">
            <a:avLst/>
          </a:prstGeom>
          <a:solidFill>
            <a:schemeClr val="bg1"/>
          </a:solidFill>
        </p:spPr>
        <p:txBody>
          <a:bodyPr wrap="square" numCol="2" rtlCol="0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'react'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PropTypes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'prop-types'</a:t>
            </a:r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Book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({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author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50000"/>
              </a:lnSpc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ct val="150000"/>
              </a:lnSpc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&lt;h1&gt;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&lt;/h1&gt;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Author: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author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)</a:t>
            </a:r>
          </a:p>
          <a:p>
            <a:pPr>
              <a:lnSpc>
                <a:spcPct val="150000"/>
              </a:lnSpc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50000"/>
              </a:lnSpc>
              <a:buNone/>
            </a:pP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Book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defaultProps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50000"/>
              </a:lnSpc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title: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"Untitled Book"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50000"/>
              </a:lnSpc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author: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"Unknown"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50000"/>
              </a:lnSpc>
              <a:buNone/>
            </a:pPr>
            <a:r>
              <a:rPr lang="en-US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Book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propTypes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50000"/>
              </a:lnSpc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title: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PropTypes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50000"/>
              </a:lnSpc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author: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PropTypes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string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50000"/>
              </a:lnSpc>
              <a:buNone/>
            </a:pP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Book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3405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46EE5-E4D6-8C7F-7FF8-C2388135D0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0932" y="3108960"/>
            <a:ext cx="8807116" cy="107286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Lecture – 2 (State)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21F6E5-544E-F1C6-1C83-6F1C717490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18407" y="4546013"/>
            <a:ext cx="4763679" cy="817840"/>
          </a:xfrm>
        </p:spPr>
        <p:txBody>
          <a:bodyPr/>
          <a:lstStyle/>
          <a:p>
            <a:r>
              <a:rPr lang="en-US" dirty="0"/>
              <a:t>Dr. Myat Mon Aye(StudyRightNow)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F7755C-F253-69B2-7A94-C216D25068CF}"/>
              </a:ext>
            </a:extLst>
          </p:cNvPr>
          <p:cNvSpPr/>
          <p:nvPr/>
        </p:nvSpPr>
        <p:spPr>
          <a:xfrm>
            <a:off x="2612908" y="1255774"/>
            <a:ext cx="6201153" cy="178510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1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>
                    <a:lumMod val="95000"/>
                  </a:schemeClr>
                </a:solidFill>
                <a:latin typeface="Cooper Black" panose="0208090404030B020404" pitchFamily="18" charset="0"/>
              </a:rPr>
              <a:t>ReactJS</a:t>
            </a:r>
            <a:endParaRPr lang="en-US" sz="11000" b="1" cap="none" spc="0" dirty="0">
              <a:ln w="22225">
                <a:solidFill>
                  <a:schemeClr val="tx1"/>
                </a:solidFill>
                <a:prstDash val="solid"/>
              </a:ln>
              <a:solidFill>
                <a:schemeClr val="bg1">
                  <a:lumMod val="95000"/>
                </a:schemeClr>
              </a:solidFill>
              <a:effectLst/>
              <a:latin typeface="Cooper Black" panose="0208090404030B0204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224D44-F470-FA84-BC7E-78CDDF1BD4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2086" y="1256859"/>
            <a:ext cx="1897922" cy="1690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155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>
        <p14:reveal/>
        <p:sndAc>
          <p:stSnd>
            <p:snd r:embed="rId2" name="Wavecont-Inspire-Full-Length-WAV.wav"/>
          </p:stSnd>
        </p:sndAc>
      </p:transition>
    </mc:Choice>
    <mc:Fallback xmlns="">
      <p:transition spd="slow">
        <p:fade/>
        <p:sndAc>
          <p:stSnd>
            <p:snd r:embed="rId4" name="Wavecont-Inspire-Full-Length-WAV.wav"/>
          </p:stSnd>
        </p:sndAc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4C5C6-B52C-7257-3FD8-3AAFC6227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15950-2BB9-B14E-7D29-B0DC9B2DF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State in React is an </a:t>
            </a:r>
            <a:r>
              <a:rPr lang="en-US" b="1" dirty="0"/>
              <a:t>object </a:t>
            </a: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that stores data which can change over time</a:t>
            </a: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within a component.</a:t>
            </a:r>
          </a:p>
          <a:p>
            <a:r>
              <a:rPr lang="en-US" dirty="0"/>
              <a:t>It represents </a:t>
            </a: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the </a:t>
            </a: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current condition/data/UI state</a:t>
            </a: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</a:t>
            </a:r>
            <a:r>
              <a:rPr lang="en-US" dirty="0"/>
              <a:t>of that component.</a:t>
            </a:r>
          </a:p>
          <a:p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Whenever the state changes, the component automatically </a:t>
            </a: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re-renders</a:t>
            </a: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, allowing you to build dynamic and interactive UIs.</a:t>
            </a:r>
          </a:p>
          <a:p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Props</a:t>
            </a:r>
            <a:r>
              <a:rPr lang="en-US" dirty="0"/>
              <a:t> → Values passed </a:t>
            </a:r>
            <a:r>
              <a:rPr lang="en-US" i="1" dirty="0"/>
              <a:t>from parent to child</a:t>
            </a:r>
            <a:r>
              <a:rPr lang="en-US" dirty="0"/>
              <a:t> (</a:t>
            </a: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read-only</a:t>
            </a:r>
            <a:r>
              <a:rPr lang="en-US" dirty="0"/>
              <a:t>, cannot be modified by the child).</a:t>
            </a:r>
          </a:p>
          <a:p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State</a:t>
            </a:r>
            <a:r>
              <a:rPr lang="en-US" dirty="0"/>
              <a:t> → Values managed inside the component itself (</a:t>
            </a: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mutable</a:t>
            </a:r>
            <a:r>
              <a:rPr lang="en-US" dirty="0"/>
              <a:t>, can be updated with setState or React hooks like </a:t>
            </a:r>
            <a:r>
              <a:rPr lang="en-US" dirty="0" err="1"/>
              <a:t>useState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975649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8316D-584A-4295-3353-D0F0F68A1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M" dirty="0"/>
              <a:t>State Cont’d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B2F9D5-1DB7-504F-777F-F43511EDD474}"/>
              </a:ext>
            </a:extLst>
          </p:cNvPr>
          <p:cNvSpPr txBox="1"/>
          <p:nvPr/>
        </p:nvSpPr>
        <p:spPr>
          <a:xfrm>
            <a:off x="673768" y="2030931"/>
            <a:ext cx="10680032" cy="448180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React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{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useState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} </a:t>
            </a:r>
            <a:r>
              <a:rPr lang="en-US" sz="16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'react'</a:t>
            </a:r>
            <a:endParaRPr lang="en-US" sz="16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b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InputTypedText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() </a:t>
            </a: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=&gt;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pPr lvl="1">
              <a:lnSpc>
                <a:spcPct val="150000"/>
              </a:lnSpc>
            </a:pP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[</a:t>
            </a:r>
            <a:r>
              <a:rPr lang="en-US" sz="1600" b="0" dirty="0" err="1">
                <a:solidFill>
                  <a:srgbClr val="0070C1"/>
                </a:solidFill>
                <a:effectLst/>
                <a:latin typeface="Menlo" panose="020B0609030804020204" pitchFamily="49" charset="0"/>
              </a:rPr>
              <a:t>text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setText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]=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useState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""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en-US" sz="16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</a:p>
          <a:p>
            <a:pPr lvl="1">
              <a:lnSpc>
                <a:spcPct val="150000"/>
              </a:lnSpc>
            </a:pPr>
            <a:r>
              <a:rPr lang="en-US" sz="1600" b="0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&lt;div&gt;</a:t>
            </a:r>
            <a:endParaRPr lang="en-US" sz="16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en-US" sz="1600" b="0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&lt;input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Menlo" panose="020B0609030804020204" pitchFamily="49" charset="0"/>
              </a:rPr>
              <a:t>type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6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"text"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Menlo" panose="020B0609030804020204" pitchFamily="49" charset="0"/>
              </a:rPr>
              <a:t>value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-US" sz="1600" b="0" dirty="0">
                <a:solidFill>
                  <a:srgbClr val="0070C1"/>
                </a:solidFill>
                <a:effectLst/>
                <a:latin typeface="Menlo" panose="020B0609030804020204" pitchFamily="49" charset="0"/>
              </a:rPr>
              <a:t>text</a:t>
            </a: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 err="1">
                <a:solidFill>
                  <a:srgbClr val="E50000"/>
                </a:solidFill>
                <a:effectLst/>
                <a:latin typeface="Menlo" panose="020B0609030804020204" pitchFamily="49" charset="0"/>
              </a:rPr>
              <a:t>onChange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e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=&gt;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setText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e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target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value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en-US" sz="1600" b="0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/&gt;</a:t>
            </a:r>
            <a:endParaRPr lang="en-US" sz="16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en-US" sz="1600" b="0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&lt;p&gt;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You typed : </a:t>
            </a: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-US" sz="1600" b="0" dirty="0">
                <a:solidFill>
                  <a:srgbClr val="0070C1"/>
                </a:solidFill>
                <a:effectLst/>
                <a:latin typeface="Menlo" panose="020B0609030804020204" pitchFamily="49" charset="0"/>
              </a:rPr>
              <a:t>text</a:t>
            </a: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en-US" sz="1600" b="0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&lt;/p&gt;</a:t>
            </a:r>
            <a:endParaRPr lang="en-US" sz="16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en-US" sz="1600" b="0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&lt;/div&gt;</a:t>
            </a:r>
            <a:endParaRPr lang="en-US" sz="16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b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6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export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default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InputTypedText</a:t>
            </a:r>
            <a:endParaRPr lang="en-US" sz="16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93337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26AF4-CFBB-6FAA-C17B-416042571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M" dirty="0"/>
              <a:t>State Cont’d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7492F1-BC23-1255-6FEE-7BD45DDA4179}"/>
              </a:ext>
            </a:extLst>
          </p:cNvPr>
          <p:cNvSpPr txBox="1"/>
          <p:nvPr/>
        </p:nvSpPr>
        <p:spPr>
          <a:xfrm>
            <a:off x="654518" y="1905802"/>
            <a:ext cx="10699282" cy="480131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React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{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useState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} </a:t>
            </a:r>
            <a:r>
              <a:rPr lang="en-US" sz="16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'react'</a:t>
            </a:r>
            <a:b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Counter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() </a:t>
            </a: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=&gt;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pPr lvl="1">
              <a:lnSpc>
                <a:spcPct val="150000"/>
              </a:lnSpc>
            </a:pP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[</a:t>
            </a:r>
            <a:r>
              <a:rPr lang="en-US" sz="1600" b="0" dirty="0" err="1">
                <a:solidFill>
                  <a:srgbClr val="0070C1"/>
                </a:solidFill>
                <a:effectLst/>
                <a:latin typeface="Menlo" panose="020B0609030804020204" pitchFamily="49" charset="0"/>
              </a:rPr>
              <a:t>counter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setCounter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]=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useState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en-US" sz="16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</a:p>
          <a:p>
            <a:pPr lvl="1">
              <a:lnSpc>
                <a:spcPct val="150000"/>
              </a:lnSpc>
            </a:pPr>
            <a:r>
              <a:rPr lang="en-US" sz="1600" b="0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&lt;div&gt;</a:t>
            </a:r>
            <a:endParaRPr lang="en-US" sz="16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en-US" sz="1600" b="0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&lt;h1&gt;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Count : </a:t>
            </a: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-US" sz="1600" b="0" dirty="0">
                <a:solidFill>
                  <a:srgbClr val="0070C1"/>
                </a:solidFill>
                <a:effectLst/>
                <a:latin typeface="Menlo" panose="020B0609030804020204" pitchFamily="49" charset="0"/>
              </a:rPr>
              <a:t>counter</a:t>
            </a: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en-US" sz="1600" b="0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&lt;/h1&gt;</a:t>
            </a:r>
            <a:endParaRPr lang="en-US" sz="16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en-US" sz="1600" b="0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&lt;button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 err="1">
                <a:solidFill>
                  <a:srgbClr val="E50000"/>
                </a:solidFill>
                <a:effectLst/>
                <a:latin typeface="Menlo" panose="020B0609030804020204" pitchFamily="49" charset="0"/>
              </a:rPr>
              <a:t>onClick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</a:t>
            </a: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=&gt;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setCounter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b="0" dirty="0">
                <a:solidFill>
                  <a:srgbClr val="0070C1"/>
                </a:solidFill>
                <a:effectLst/>
                <a:latin typeface="Menlo" panose="020B0609030804020204" pitchFamily="49" charset="0"/>
              </a:rPr>
              <a:t>counter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US" sz="16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en-US" sz="1600" b="0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Increase</a:t>
            </a:r>
            <a:r>
              <a:rPr lang="en-US" sz="1600" b="0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&lt;/button&gt;</a:t>
            </a:r>
            <a:endParaRPr lang="en-US" sz="16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en-US" sz="1600" b="0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&lt;button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 err="1">
                <a:solidFill>
                  <a:srgbClr val="E50000"/>
                </a:solidFill>
                <a:effectLst/>
                <a:latin typeface="Menlo" panose="020B0609030804020204" pitchFamily="49" charset="0"/>
              </a:rPr>
              <a:t>onClick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</a:t>
            </a: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=&gt;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setCounter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b="0" dirty="0">
                <a:solidFill>
                  <a:srgbClr val="0070C1"/>
                </a:solidFill>
                <a:effectLst/>
                <a:latin typeface="Menlo" panose="020B0609030804020204" pitchFamily="49" charset="0"/>
              </a:rPr>
              <a:t>counter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US" sz="16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en-US" sz="1600" b="0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Decrease</a:t>
            </a:r>
            <a:r>
              <a:rPr lang="en-US" sz="1600" b="0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&lt;/button&gt;</a:t>
            </a:r>
            <a:endParaRPr lang="en-US" sz="16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en-US" sz="1600" b="0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&lt;/div&gt;</a:t>
            </a:r>
            <a:endParaRPr lang="en-US" sz="16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b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6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export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default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Counter</a:t>
            </a:r>
            <a:endParaRPr lang="en-US" sz="16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endParaRPr lang="en-MM" dirty="0"/>
          </a:p>
        </p:txBody>
      </p:sp>
    </p:spTree>
    <p:extLst>
      <p:ext uri="{BB962C8B-B14F-4D97-AF65-F5344CB8AC3E}">
        <p14:creationId xmlns:p14="http://schemas.microsoft.com/office/powerpoint/2010/main" val="30628969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46EE5-E4D6-8C7F-7FF8-C2388135D0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0932" y="3108960"/>
            <a:ext cx="8807116" cy="107286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Lecture – 3 (Ref)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21F6E5-544E-F1C6-1C83-6F1C717490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18407" y="4546013"/>
            <a:ext cx="4763679" cy="817840"/>
          </a:xfrm>
        </p:spPr>
        <p:txBody>
          <a:bodyPr/>
          <a:lstStyle/>
          <a:p>
            <a:r>
              <a:rPr lang="en-US" dirty="0"/>
              <a:t>Dr. Myat Mon Aye(StudyRightNow)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F7755C-F253-69B2-7A94-C216D25068CF}"/>
              </a:ext>
            </a:extLst>
          </p:cNvPr>
          <p:cNvSpPr/>
          <p:nvPr/>
        </p:nvSpPr>
        <p:spPr>
          <a:xfrm>
            <a:off x="2612908" y="1255774"/>
            <a:ext cx="6201153" cy="178510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1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>
                    <a:lumMod val="95000"/>
                  </a:schemeClr>
                </a:solidFill>
                <a:latin typeface="Cooper Black" panose="0208090404030B020404" pitchFamily="18" charset="0"/>
              </a:rPr>
              <a:t>ReactJS</a:t>
            </a:r>
            <a:endParaRPr lang="en-US" sz="11000" b="1" cap="none" spc="0" dirty="0">
              <a:ln w="22225">
                <a:solidFill>
                  <a:schemeClr val="tx1"/>
                </a:solidFill>
                <a:prstDash val="solid"/>
              </a:ln>
              <a:solidFill>
                <a:schemeClr val="bg1">
                  <a:lumMod val="95000"/>
                </a:schemeClr>
              </a:solidFill>
              <a:effectLst/>
              <a:latin typeface="Cooper Black" panose="0208090404030B0204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224D44-F470-FA84-BC7E-78CDDF1BD4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2086" y="1256859"/>
            <a:ext cx="1897922" cy="1690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409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>
        <p14:reveal/>
        <p:sndAc>
          <p:stSnd>
            <p:snd r:embed="rId2" name="Wavecont-Inspire-Full-Length-WAV.wav"/>
          </p:stSnd>
        </p:sndAc>
      </p:transition>
    </mc:Choice>
    <mc:Fallback xmlns="">
      <p:transition spd="slow">
        <p:fade/>
        <p:sndAc>
          <p:stSnd>
            <p:snd r:embed="rId4" name="Wavecont-Inspire-Full-Length-WAV.wav"/>
          </p:stSnd>
        </p:sndAc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ECF0B-B46F-2D75-ED0D-62F44FB4C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M" dirty="0"/>
              <a:t>Reference - Ref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85833-C46F-A01C-A426-03A79FC33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ReactJS, Ref (short for “Reference”) is used to directly access DOM elements (for example – input, div, button, and other HTML tags) inside a component.</a:t>
            </a:r>
          </a:p>
          <a:p>
            <a:r>
              <a:rPr lang="en-US" dirty="0"/>
              <a:t>Normally, React manages UI updates using state, but in some cases, you may need to directly interact with the DOM. In such cases, you use a Ref.</a:t>
            </a:r>
          </a:p>
          <a:p>
            <a:r>
              <a:rPr lang="en-US" dirty="0"/>
              <a:t>There are two main ways to create and use Refs:</a:t>
            </a:r>
          </a:p>
          <a:p>
            <a:pPr lvl="1"/>
            <a:r>
              <a:rPr lang="en-US" dirty="0" err="1"/>
              <a:t>React.createRef</a:t>
            </a:r>
            <a:r>
              <a:rPr lang="en-US" dirty="0"/>
              <a:t>() — used in Class Components</a:t>
            </a:r>
          </a:p>
          <a:p>
            <a:pPr lvl="1"/>
            <a:r>
              <a:rPr lang="en-US" dirty="0" err="1"/>
              <a:t>useRef</a:t>
            </a:r>
            <a:r>
              <a:rPr lang="en-US" dirty="0"/>
              <a:t>() Hook — used in Function Components</a:t>
            </a:r>
          </a:p>
          <a:p>
            <a:endParaRPr lang="en-MM" dirty="0"/>
          </a:p>
        </p:txBody>
      </p:sp>
    </p:spTree>
    <p:extLst>
      <p:ext uri="{BB962C8B-B14F-4D97-AF65-F5344CB8AC3E}">
        <p14:creationId xmlns:p14="http://schemas.microsoft.com/office/powerpoint/2010/main" val="1153939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46EE5-E4D6-8C7F-7FF8-C2388135D0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0932" y="3108960"/>
            <a:ext cx="8807116" cy="1072865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dirty="0">
                <a:latin typeface="Arial Rounded MT Bold" panose="020F0704030504030204" pitchFamily="34" charset="77"/>
              </a:rPr>
              <a:t>Lecture – 4 </a:t>
            </a:r>
            <a:br>
              <a:rPr lang="en-US" dirty="0">
                <a:latin typeface="Arial Rounded MT Bold" panose="020F0704030504030204" pitchFamily="34" charset="77"/>
              </a:rPr>
            </a:br>
            <a:r>
              <a:rPr lang="en-US" sz="3600" dirty="0">
                <a:latin typeface="Arial Rounded MT Bold" panose="020F0704030504030204" pitchFamily="34" charset="77"/>
              </a:rPr>
              <a:t>(Choosing Ice Cream Toppings)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21F6E5-544E-F1C6-1C83-6F1C717490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18407" y="4546013"/>
            <a:ext cx="4763679" cy="817840"/>
          </a:xfrm>
        </p:spPr>
        <p:txBody>
          <a:bodyPr/>
          <a:lstStyle/>
          <a:p>
            <a:r>
              <a:rPr lang="en-US" dirty="0"/>
              <a:t>Dr. Myat Mon Aye(StudyRightNow)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F7755C-F253-69B2-7A94-C216D25068CF}"/>
              </a:ext>
            </a:extLst>
          </p:cNvPr>
          <p:cNvSpPr/>
          <p:nvPr/>
        </p:nvSpPr>
        <p:spPr>
          <a:xfrm>
            <a:off x="2612908" y="1255774"/>
            <a:ext cx="6201153" cy="178510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1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>
                    <a:lumMod val="95000"/>
                  </a:schemeClr>
                </a:solidFill>
                <a:latin typeface="Cooper Black" panose="0208090404030B020404" pitchFamily="18" charset="0"/>
              </a:rPr>
              <a:t>ReactJS</a:t>
            </a:r>
            <a:endParaRPr lang="en-US" sz="11000" b="1" cap="none" spc="0" dirty="0">
              <a:ln w="22225">
                <a:solidFill>
                  <a:schemeClr val="tx1"/>
                </a:solidFill>
                <a:prstDash val="solid"/>
              </a:ln>
              <a:solidFill>
                <a:schemeClr val="bg1">
                  <a:lumMod val="95000"/>
                </a:schemeClr>
              </a:solidFill>
              <a:effectLst/>
              <a:latin typeface="Cooper Black" panose="0208090404030B0204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224D44-F470-FA84-BC7E-78CDDF1BD4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2086" y="1256859"/>
            <a:ext cx="1897922" cy="1690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502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>
        <p14:reveal/>
        <p:sndAc>
          <p:stSnd>
            <p:snd r:embed="rId2" name="Wavecont-Inspire-Full-Length-WAV.wav"/>
          </p:stSnd>
        </p:sndAc>
      </p:transition>
    </mc:Choice>
    <mc:Fallback xmlns="">
      <p:transition spd="slow">
        <p:fade/>
        <p:sndAc>
          <p:stSnd>
            <p:snd r:embed="rId4" name="Wavecont-Inspire-Full-Length-WAV.wav"/>
          </p:stSnd>
        </p:sndAc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46EE5-E4D6-8C7F-7FF8-C2388135D0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92442" y="3266638"/>
            <a:ext cx="8807116" cy="1072865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dirty="0">
                <a:latin typeface="Arial Rounded MT Bold" panose="020F0704030504030204" pitchFamily="34" charset="77"/>
              </a:rPr>
              <a:t>Lecture – 5 </a:t>
            </a:r>
            <a:br>
              <a:rPr lang="en-US" dirty="0">
                <a:latin typeface="Arial Rounded MT Bold" panose="020F0704030504030204" pitchFamily="34" charset="77"/>
              </a:rPr>
            </a:br>
            <a:r>
              <a:rPr lang="en-US" sz="3600" dirty="0">
                <a:latin typeface="Arial Rounded MT Bold" panose="020F0704030504030204" pitchFamily="34" charset="77"/>
              </a:rPr>
              <a:t>(Component Life Cycle)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21F6E5-544E-F1C6-1C83-6F1C717490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0313" y="4934915"/>
            <a:ext cx="4763679" cy="817840"/>
          </a:xfrm>
        </p:spPr>
        <p:txBody>
          <a:bodyPr/>
          <a:lstStyle/>
          <a:p>
            <a:r>
              <a:rPr lang="en-US" dirty="0"/>
              <a:t>Dr. Myat Mon Aye(StudyRightNow)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F7755C-F253-69B2-7A94-C216D25068CF}"/>
              </a:ext>
            </a:extLst>
          </p:cNvPr>
          <p:cNvSpPr/>
          <p:nvPr/>
        </p:nvSpPr>
        <p:spPr>
          <a:xfrm>
            <a:off x="2612908" y="1255774"/>
            <a:ext cx="6201153" cy="178510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1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>
                    <a:lumMod val="95000"/>
                  </a:schemeClr>
                </a:solidFill>
                <a:latin typeface="Cooper Black" panose="0208090404030B020404" pitchFamily="18" charset="0"/>
              </a:rPr>
              <a:t>ReactJS</a:t>
            </a:r>
            <a:endParaRPr lang="en-US" sz="11000" b="1" cap="none" spc="0" dirty="0">
              <a:ln w="22225">
                <a:solidFill>
                  <a:schemeClr val="tx1"/>
                </a:solidFill>
                <a:prstDash val="solid"/>
              </a:ln>
              <a:solidFill>
                <a:schemeClr val="bg1">
                  <a:lumMod val="95000"/>
                </a:schemeClr>
              </a:solidFill>
              <a:effectLst/>
              <a:latin typeface="Cooper Black" panose="0208090404030B0204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224D44-F470-FA84-BC7E-78CDDF1BD4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2086" y="1256859"/>
            <a:ext cx="1897922" cy="1690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087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>
        <p14:reveal/>
        <p:sndAc>
          <p:stSnd>
            <p:snd r:embed="rId2" name="Wavecont-Inspire-Full-Length-WAV.wav"/>
          </p:stSnd>
        </p:sndAc>
      </p:transition>
    </mc:Choice>
    <mc:Fallback xmlns="">
      <p:transition spd="slow">
        <p:fade/>
        <p:sndAc>
          <p:stSnd>
            <p:snd r:embed="rId4" name="Wavecont-Inspire-Full-Length-WAV.wav"/>
          </p:stSnd>
        </p:sndAc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8D96A-CA9E-8F77-3608-F970F34BE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M" dirty="0"/>
              <a:t>Component Life Cycle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0064749-57F9-5261-7ECC-515DE423443B}"/>
              </a:ext>
            </a:extLst>
          </p:cNvPr>
          <p:cNvGrpSpPr/>
          <p:nvPr/>
        </p:nvGrpSpPr>
        <p:grpSpPr>
          <a:xfrm>
            <a:off x="2905225" y="2878943"/>
            <a:ext cx="6120245" cy="3007508"/>
            <a:chOff x="2697743" y="2328169"/>
            <a:chExt cx="6120245" cy="3007508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5440193E-EE51-C970-74EE-3C77C0AE98EF}"/>
                </a:ext>
              </a:extLst>
            </p:cNvPr>
            <p:cNvSpPr/>
            <p:nvPr/>
          </p:nvSpPr>
          <p:spPr>
            <a:xfrm>
              <a:off x="4526294" y="2328169"/>
              <a:ext cx="2059806" cy="577515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MM" dirty="0"/>
                <a:t>Initialization</a:t>
              </a:r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93A3B397-57C0-CFEC-0BA4-45505FC932C5}"/>
                </a:ext>
              </a:extLst>
            </p:cNvPr>
            <p:cNvSpPr/>
            <p:nvPr/>
          </p:nvSpPr>
          <p:spPr>
            <a:xfrm>
              <a:off x="6758182" y="3429000"/>
              <a:ext cx="2059806" cy="577515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MM" dirty="0"/>
                <a:t>Mounting</a:t>
              </a: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51EF81F4-BBF0-DCAB-DB1A-9877959CDF77}"/>
                </a:ext>
              </a:extLst>
            </p:cNvPr>
            <p:cNvSpPr/>
            <p:nvPr/>
          </p:nvSpPr>
          <p:spPr>
            <a:xfrm>
              <a:off x="4474144" y="4758162"/>
              <a:ext cx="2059806" cy="577515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MM" dirty="0"/>
                <a:t>Updating</a:t>
              </a: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6AEB7DB9-E5C1-A216-509C-5F269AE74976}"/>
                </a:ext>
              </a:extLst>
            </p:cNvPr>
            <p:cNvSpPr/>
            <p:nvPr/>
          </p:nvSpPr>
          <p:spPr>
            <a:xfrm>
              <a:off x="2697743" y="3543166"/>
              <a:ext cx="2059806" cy="577515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MM" dirty="0"/>
                <a:t>Unmounting</a:t>
              </a:r>
            </a:p>
          </p:txBody>
        </p:sp>
        <p:sp>
          <p:nvSpPr>
            <p:cNvPr id="9" name="Notched Right Arrow 8">
              <a:extLst>
                <a:ext uri="{FF2B5EF4-FFF2-40B4-BE49-F238E27FC236}">
                  <a16:creationId xmlns:a16="http://schemas.microsoft.com/office/drawing/2014/main" id="{43AE560D-E3ED-D912-F737-0345A2309AC1}"/>
                </a:ext>
              </a:extLst>
            </p:cNvPr>
            <p:cNvSpPr/>
            <p:nvPr/>
          </p:nvSpPr>
          <p:spPr>
            <a:xfrm rot="1834726">
              <a:off x="6738308" y="2711115"/>
              <a:ext cx="991402" cy="500514"/>
            </a:xfrm>
            <a:prstGeom prst="notchedRightArrow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MM"/>
            </a:p>
          </p:txBody>
        </p:sp>
        <p:sp>
          <p:nvSpPr>
            <p:cNvPr id="10" name="Notched Right Arrow 9">
              <a:extLst>
                <a:ext uri="{FF2B5EF4-FFF2-40B4-BE49-F238E27FC236}">
                  <a16:creationId xmlns:a16="http://schemas.microsoft.com/office/drawing/2014/main" id="{842C356E-6A68-97BF-D745-4538AB6550DE}"/>
                </a:ext>
              </a:extLst>
            </p:cNvPr>
            <p:cNvSpPr/>
            <p:nvPr/>
          </p:nvSpPr>
          <p:spPr>
            <a:xfrm rot="7677267">
              <a:off x="6738308" y="4387662"/>
              <a:ext cx="991402" cy="500514"/>
            </a:xfrm>
            <a:prstGeom prst="notchedRightArrow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MM"/>
            </a:p>
          </p:txBody>
        </p:sp>
        <p:sp>
          <p:nvSpPr>
            <p:cNvPr id="11" name="Notched Right Arrow 10">
              <a:extLst>
                <a:ext uri="{FF2B5EF4-FFF2-40B4-BE49-F238E27FC236}">
                  <a16:creationId xmlns:a16="http://schemas.microsoft.com/office/drawing/2014/main" id="{7014BBC3-A21A-4108-87FE-84D4F50B18BD}"/>
                </a:ext>
              </a:extLst>
            </p:cNvPr>
            <p:cNvSpPr/>
            <p:nvPr/>
          </p:nvSpPr>
          <p:spPr>
            <a:xfrm rot="12939771">
              <a:off x="3231945" y="4440114"/>
              <a:ext cx="991402" cy="500514"/>
            </a:xfrm>
            <a:prstGeom prst="notchedRightArrow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MM"/>
            </a:p>
          </p:txBody>
        </p:sp>
        <p:sp>
          <p:nvSpPr>
            <p:cNvPr id="12" name="Notched Right Arrow 11">
              <a:extLst>
                <a:ext uri="{FF2B5EF4-FFF2-40B4-BE49-F238E27FC236}">
                  <a16:creationId xmlns:a16="http://schemas.microsoft.com/office/drawing/2014/main" id="{4E3F3F4B-5386-5EA8-D9BF-798DD134D115}"/>
                </a:ext>
              </a:extLst>
            </p:cNvPr>
            <p:cNvSpPr/>
            <p:nvPr/>
          </p:nvSpPr>
          <p:spPr>
            <a:xfrm rot="19803142">
              <a:off x="3382313" y="2743200"/>
              <a:ext cx="991402" cy="500514"/>
            </a:xfrm>
            <a:prstGeom prst="notchedRightArrow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MM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F6CCF885-6A8A-F1F9-7BB3-AB5BE849740E}"/>
              </a:ext>
            </a:extLst>
          </p:cNvPr>
          <p:cNvSpPr txBox="1"/>
          <p:nvPr/>
        </p:nvSpPr>
        <p:spPr>
          <a:xfrm>
            <a:off x="3935128" y="1951672"/>
            <a:ext cx="43217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0" i="0" u="none" strike="noStrike" dirty="0">
                <a:solidFill>
                  <a:schemeClr val="bg1"/>
                </a:solidFill>
                <a:effectLst/>
              </a:rPr>
              <a:t>Component is first created and prepared for use. The component’s </a:t>
            </a:r>
            <a:r>
              <a:rPr lang="en-US" b="1" i="0" u="none" strike="noStrike" dirty="0">
                <a:solidFill>
                  <a:schemeClr val="bg1"/>
                </a:solidFill>
                <a:effectLst/>
              </a:rPr>
              <a:t>state and props are initialized</a:t>
            </a:r>
            <a:r>
              <a:rPr lang="en-US" b="0" i="0" u="none" strike="noStrike" dirty="0">
                <a:solidFill>
                  <a:schemeClr val="bg1"/>
                </a:solidFill>
                <a:effectLst/>
              </a:rPr>
              <a:t>.</a:t>
            </a:r>
          </a:p>
          <a:p>
            <a:br>
              <a:rPr lang="en-US" dirty="0"/>
            </a:br>
            <a:endParaRPr lang="en-MM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91EA26-1923-CB58-45FB-BF0E2B8A6833}"/>
              </a:ext>
            </a:extLst>
          </p:cNvPr>
          <p:cNvSpPr txBox="1"/>
          <p:nvPr/>
        </p:nvSpPr>
        <p:spPr>
          <a:xfrm>
            <a:off x="9067153" y="3628253"/>
            <a:ext cx="26145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C</a:t>
            </a:r>
            <a:r>
              <a:rPr lang="en-US" b="0" i="0" u="none" strike="noStrike" dirty="0">
                <a:solidFill>
                  <a:schemeClr val="bg1"/>
                </a:solidFill>
                <a:effectLst/>
              </a:rPr>
              <a:t>omponent is </a:t>
            </a:r>
            <a:r>
              <a:rPr lang="en-US" b="1" i="0" u="none" strike="noStrike" dirty="0">
                <a:solidFill>
                  <a:schemeClr val="bg1"/>
                </a:solidFill>
                <a:effectLst/>
              </a:rPr>
              <a:t>inserted into the DOM</a:t>
            </a:r>
            <a:r>
              <a:rPr lang="en-US" b="0" i="0" u="none" strike="noStrike" dirty="0">
                <a:solidFill>
                  <a:schemeClr val="bg1"/>
                </a:solidFill>
                <a:effectLst/>
              </a:rPr>
              <a:t> for the first time.</a:t>
            </a:r>
          </a:p>
          <a:p>
            <a:pPr algn="l"/>
            <a:r>
              <a:rPr lang="en-US" b="0" i="0" u="none" strike="noStrike" dirty="0">
                <a:solidFill>
                  <a:schemeClr val="bg1"/>
                </a:solidFill>
                <a:effectLst/>
              </a:rPr>
              <a:t>React </a:t>
            </a:r>
            <a:r>
              <a:rPr lang="en-US" b="1" i="0" u="none" strike="noStrike" dirty="0">
                <a:solidFill>
                  <a:schemeClr val="bg1"/>
                </a:solidFill>
                <a:effectLst/>
              </a:rPr>
              <a:t>renders the UI</a:t>
            </a:r>
            <a:r>
              <a:rPr lang="en-US" b="0" i="0" u="none" strike="noStrike" dirty="0">
                <a:solidFill>
                  <a:schemeClr val="bg1"/>
                </a:solidFill>
                <a:effectLst/>
              </a:rPr>
              <a:t> and attaches it to the DOM.</a:t>
            </a:r>
          </a:p>
          <a:p>
            <a:br>
              <a:rPr lang="en-US" dirty="0">
                <a:solidFill>
                  <a:schemeClr val="bg1"/>
                </a:solidFill>
              </a:rPr>
            </a:br>
            <a:endParaRPr lang="en-MM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47D643B-D0A0-CB29-5B05-67FE8A00FE97}"/>
              </a:ext>
            </a:extLst>
          </p:cNvPr>
          <p:cNvSpPr txBox="1"/>
          <p:nvPr/>
        </p:nvSpPr>
        <p:spPr>
          <a:xfrm>
            <a:off x="3673824" y="6023317"/>
            <a:ext cx="43217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  <a:latin typeface="-webkit-standard"/>
              </a:rPr>
              <a:t>T</a:t>
            </a:r>
            <a:r>
              <a:rPr lang="en-US" b="0" i="0" u="none" strike="noStrike" dirty="0">
                <a:solidFill>
                  <a:schemeClr val="bg1"/>
                </a:solidFill>
                <a:effectLst/>
                <a:latin typeface="-webkit-standard"/>
              </a:rPr>
              <a:t>he component </a:t>
            </a:r>
            <a:r>
              <a:rPr lang="en-US" b="1" i="0" u="none" strike="noStrike" dirty="0">
                <a:solidFill>
                  <a:schemeClr val="bg1"/>
                </a:solidFill>
                <a:effectLst/>
              </a:rPr>
              <a:t>re-renders</a:t>
            </a:r>
            <a:r>
              <a:rPr lang="en-US" b="0" i="0" u="none" strike="noStrike" dirty="0">
                <a:solidFill>
                  <a:schemeClr val="bg1"/>
                </a:solidFill>
                <a:effectLst/>
                <a:latin typeface="-webkit-standard"/>
              </a:rPr>
              <a:t> due to changes in </a:t>
            </a:r>
            <a:r>
              <a:rPr lang="en-US" b="1" i="0" u="none" strike="noStrike" dirty="0">
                <a:solidFill>
                  <a:schemeClr val="bg1"/>
                </a:solidFill>
                <a:effectLst/>
              </a:rPr>
              <a:t>state or props</a:t>
            </a:r>
            <a:endParaRPr lang="en-MM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8CED2A-B178-4063-E48E-36779BAC27A6}"/>
              </a:ext>
            </a:extLst>
          </p:cNvPr>
          <p:cNvSpPr txBox="1"/>
          <p:nvPr/>
        </p:nvSpPr>
        <p:spPr>
          <a:xfrm>
            <a:off x="657753" y="3957124"/>
            <a:ext cx="22450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0" i="0" u="none" strike="noStrike" dirty="0">
                <a:solidFill>
                  <a:schemeClr val="bg1"/>
                </a:solidFill>
                <a:effectLst/>
                <a:latin typeface="-webkit-standard"/>
              </a:rPr>
              <a:t>This is the phase when the component is </a:t>
            </a:r>
            <a:r>
              <a:rPr lang="en-US" b="1" i="0" u="none" strike="noStrike" dirty="0">
                <a:solidFill>
                  <a:schemeClr val="bg1"/>
                </a:solidFill>
                <a:effectLst/>
              </a:rPr>
              <a:t>removed from the DOM</a:t>
            </a:r>
            <a:r>
              <a:rPr lang="en-US" b="0" i="0" u="none" strike="noStrike" dirty="0">
                <a:solidFill>
                  <a:schemeClr val="bg1"/>
                </a:solidFill>
                <a:effectLst/>
                <a:latin typeface="-webkit-standard"/>
              </a:rPr>
              <a:t>.</a:t>
            </a:r>
            <a:endParaRPr lang="en-MM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1341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C4423-A9C7-109A-77A0-04CAA1786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M" dirty="0"/>
              <a:t>Mount =&gt; update =&gt; unmount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C1F9B3-840B-2FFD-3FC1-4812B54E1772}"/>
              </a:ext>
            </a:extLst>
          </p:cNvPr>
          <p:cNvSpPr txBox="1"/>
          <p:nvPr/>
        </p:nvSpPr>
        <p:spPr>
          <a:xfrm>
            <a:off x="673769" y="2040556"/>
            <a:ext cx="3157086" cy="1993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2000" dirty="0">
                <a:solidFill>
                  <a:srgbClr val="FF0000"/>
                </a:solidFill>
              </a:rPr>
              <a:t>Mounting</a:t>
            </a:r>
            <a:endParaRPr lang="en-US" sz="1600" dirty="0"/>
          </a:p>
          <a:p>
            <a:pPr lvl="1">
              <a:lnSpc>
                <a:spcPct val="150000"/>
              </a:lnSpc>
            </a:pPr>
            <a:r>
              <a:rPr lang="en-US" sz="1600" dirty="0" err="1"/>
              <a:t>useEffect</a:t>
            </a:r>
            <a:r>
              <a:rPr lang="en-US" sz="1600" dirty="0"/>
              <a:t>(() =&gt; {</a:t>
            </a:r>
          </a:p>
          <a:p>
            <a:pPr lvl="1">
              <a:lnSpc>
                <a:spcPct val="150000"/>
              </a:lnSpc>
            </a:pPr>
            <a:r>
              <a:rPr lang="en-US" sz="1600" dirty="0"/>
              <a:t>  </a:t>
            </a:r>
            <a:r>
              <a:rPr lang="en-US" sz="1600" dirty="0" err="1"/>
              <a:t>console.log</a:t>
            </a:r>
            <a:r>
              <a:rPr lang="en-US" sz="1600" dirty="0"/>
              <a:t>("Mounted!");</a:t>
            </a:r>
          </a:p>
          <a:p>
            <a:pPr lvl="1">
              <a:lnSpc>
                <a:spcPct val="150000"/>
              </a:lnSpc>
            </a:pPr>
            <a:r>
              <a:rPr lang="en-US" sz="1600" dirty="0"/>
              <a:t>}, []);</a:t>
            </a:r>
          </a:p>
          <a:p>
            <a:pPr lvl="1">
              <a:lnSpc>
                <a:spcPct val="150000"/>
              </a:lnSpc>
            </a:pPr>
            <a:endParaRPr lang="en-MM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E10F17-8FF7-0334-0A80-D3B86701BFD7}"/>
              </a:ext>
            </a:extLst>
          </p:cNvPr>
          <p:cNvSpPr txBox="1"/>
          <p:nvPr/>
        </p:nvSpPr>
        <p:spPr>
          <a:xfrm>
            <a:off x="3935129" y="2040556"/>
            <a:ext cx="3880585" cy="1993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2000" dirty="0">
                <a:solidFill>
                  <a:srgbClr val="FF0000"/>
                </a:solidFill>
              </a:rPr>
              <a:t>Updating</a:t>
            </a:r>
            <a:endParaRPr lang="en-US" sz="1600" dirty="0"/>
          </a:p>
          <a:p>
            <a:pPr lvl="1">
              <a:lnSpc>
                <a:spcPct val="150000"/>
              </a:lnSpc>
            </a:pPr>
            <a:r>
              <a:rPr lang="en-US" sz="1600" dirty="0" err="1"/>
              <a:t>useEffect</a:t>
            </a:r>
            <a:r>
              <a:rPr lang="en-US" sz="1600" dirty="0"/>
              <a:t>(() =&gt; {</a:t>
            </a:r>
          </a:p>
          <a:p>
            <a:pPr lvl="1">
              <a:lnSpc>
                <a:spcPct val="150000"/>
              </a:lnSpc>
            </a:pPr>
            <a:r>
              <a:rPr lang="en-US" sz="1600" dirty="0"/>
              <a:t>  </a:t>
            </a:r>
            <a:r>
              <a:rPr lang="en-US" sz="1600" dirty="0" err="1"/>
              <a:t>console.log</a:t>
            </a:r>
            <a:r>
              <a:rPr lang="en-US" sz="1600" dirty="0"/>
              <a:t>("Component updated!");</a:t>
            </a:r>
          </a:p>
          <a:p>
            <a:pPr lvl="1">
              <a:lnSpc>
                <a:spcPct val="150000"/>
              </a:lnSpc>
            </a:pPr>
            <a:r>
              <a:rPr lang="en-US" sz="1600" dirty="0"/>
              <a:t>}, [count]);</a:t>
            </a:r>
          </a:p>
          <a:p>
            <a:pPr lvl="1">
              <a:lnSpc>
                <a:spcPct val="150000"/>
              </a:lnSpc>
            </a:pPr>
            <a:endParaRPr lang="en-MM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946259-4D9C-2F59-E35A-BCA218ED5A3D}"/>
              </a:ext>
            </a:extLst>
          </p:cNvPr>
          <p:cNvSpPr txBox="1"/>
          <p:nvPr/>
        </p:nvSpPr>
        <p:spPr>
          <a:xfrm>
            <a:off x="7919987" y="2040556"/>
            <a:ext cx="3598243" cy="273177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2000" dirty="0">
                <a:solidFill>
                  <a:srgbClr val="FF0000"/>
                </a:solidFill>
              </a:rPr>
              <a:t>Unmounting</a:t>
            </a:r>
            <a:endParaRPr lang="en-US" sz="1600" dirty="0"/>
          </a:p>
          <a:p>
            <a:pPr lvl="1">
              <a:lnSpc>
                <a:spcPct val="150000"/>
              </a:lnSpc>
            </a:pPr>
            <a:r>
              <a:rPr lang="en-US" sz="1600" dirty="0" err="1"/>
              <a:t>useEffect</a:t>
            </a:r>
            <a:r>
              <a:rPr lang="en-US" sz="1600" dirty="0"/>
              <a:t>(() =&gt; {</a:t>
            </a:r>
          </a:p>
          <a:p>
            <a:pPr lvl="1">
              <a:lnSpc>
                <a:spcPct val="150000"/>
              </a:lnSpc>
            </a:pPr>
            <a:r>
              <a:rPr lang="en-US" sz="1600" dirty="0"/>
              <a:t>  </a:t>
            </a:r>
            <a:r>
              <a:rPr lang="en-US" sz="1600" dirty="0" err="1"/>
              <a:t>console.log</a:t>
            </a:r>
            <a:r>
              <a:rPr lang="en-US" sz="1600" dirty="0"/>
              <a:t>("Mounted");</a:t>
            </a:r>
          </a:p>
          <a:p>
            <a:pPr lvl="1">
              <a:lnSpc>
                <a:spcPct val="150000"/>
              </a:lnSpc>
            </a:pPr>
            <a:r>
              <a:rPr lang="en-US" sz="1600" dirty="0"/>
              <a:t>  return () =&gt; {</a:t>
            </a:r>
          </a:p>
          <a:p>
            <a:pPr lvl="1">
              <a:lnSpc>
                <a:spcPct val="150000"/>
              </a:lnSpc>
            </a:pPr>
            <a:r>
              <a:rPr lang="en-US" sz="1600" dirty="0"/>
              <a:t>    </a:t>
            </a:r>
            <a:r>
              <a:rPr lang="en-US" sz="1600" dirty="0" err="1"/>
              <a:t>console.log</a:t>
            </a:r>
            <a:r>
              <a:rPr lang="en-US" sz="1600" dirty="0"/>
              <a:t>("Unmounted");</a:t>
            </a:r>
          </a:p>
          <a:p>
            <a:pPr lvl="1">
              <a:lnSpc>
                <a:spcPct val="150000"/>
              </a:lnSpc>
            </a:pPr>
            <a:r>
              <a:rPr lang="en-US" sz="1600" dirty="0"/>
              <a:t>  };</a:t>
            </a:r>
          </a:p>
          <a:p>
            <a:pPr lvl="1">
              <a:lnSpc>
                <a:spcPct val="150000"/>
              </a:lnSpc>
            </a:pPr>
            <a:r>
              <a:rPr lang="en-US" sz="1600" dirty="0"/>
              <a:t>}, []);</a:t>
            </a:r>
            <a:endParaRPr lang="en-MM" sz="1600" dirty="0"/>
          </a:p>
        </p:txBody>
      </p:sp>
    </p:spTree>
    <p:extLst>
      <p:ext uri="{BB962C8B-B14F-4D97-AF65-F5344CB8AC3E}">
        <p14:creationId xmlns:p14="http://schemas.microsoft.com/office/powerpoint/2010/main" val="1749405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46EE5-E4D6-8C7F-7FF8-C2388135D0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0932" y="3108960"/>
            <a:ext cx="8807116" cy="107286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>
                <a:latin typeface="Arial Rounded MT Bold" panose="020F0704030504030204" pitchFamily="34" charset="77"/>
              </a:rPr>
              <a:t>Lecture – 6 (Hook)</a:t>
            </a:r>
            <a:endParaRPr lang="en-US" sz="3600" dirty="0">
              <a:latin typeface="Arial Rounded MT Bold" panose="020F0704030504030204" pitchFamily="34" charset="77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21F6E5-544E-F1C6-1C83-6F1C717490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39789" y="4565264"/>
            <a:ext cx="4763679" cy="817840"/>
          </a:xfrm>
        </p:spPr>
        <p:txBody>
          <a:bodyPr/>
          <a:lstStyle/>
          <a:p>
            <a:r>
              <a:rPr lang="en-US" dirty="0"/>
              <a:t>Dr. Myat Mon Aye(StudyRightNow)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F7755C-F253-69B2-7A94-C216D25068CF}"/>
              </a:ext>
            </a:extLst>
          </p:cNvPr>
          <p:cNvSpPr/>
          <p:nvPr/>
        </p:nvSpPr>
        <p:spPr>
          <a:xfrm>
            <a:off x="2612908" y="1255774"/>
            <a:ext cx="6201153" cy="178510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1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>
                    <a:lumMod val="95000"/>
                  </a:schemeClr>
                </a:solidFill>
                <a:latin typeface="Cooper Black" panose="0208090404030B020404" pitchFamily="18" charset="0"/>
              </a:rPr>
              <a:t>ReactJS</a:t>
            </a:r>
            <a:endParaRPr lang="en-US" sz="11000" b="1" cap="none" spc="0" dirty="0">
              <a:ln w="22225">
                <a:solidFill>
                  <a:schemeClr val="tx1"/>
                </a:solidFill>
                <a:prstDash val="solid"/>
              </a:ln>
              <a:solidFill>
                <a:schemeClr val="bg1">
                  <a:lumMod val="95000"/>
                </a:schemeClr>
              </a:solidFill>
              <a:effectLst/>
              <a:latin typeface="Cooper Black" panose="0208090404030B0204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224D44-F470-FA84-BC7E-78CDDF1BD4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2086" y="1256859"/>
            <a:ext cx="1897922" cy="1690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350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>
        <p14:reveal/>
        <p:sndAc>
          <p:stSnd>
            <p:snd r:embed="rId2" name="Wavecont-Inspire-Full-Length-WAV.wav"/>
          </p:stSnd>
        </p:sndAc>
      </p:transition>
    </mc:Choice>
    <mc:Fallback xmlns="">
      <p:transition spd="slow">
        <p:fade/>
        <p:sndAc>
          <p:stSnd>
            <p:snd r:embed="rId4" name="Wavecont-Inspire-Full-Length-WAV.wav"/>
          </p:stSnd>
        </p:sndAc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8D580-0B91-E464-D38D-836FDC199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React Hooks?</a:t>
            </a:r>
            <a:endParaRPr lang="en-M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082A7-2CFF-2C3D-AE0A-2428CF1B5F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Hooks are features in React that allow you to use state and lifecycle logic inside functional components.</a:t>
            </a:r>
          </a:p>
          <a:p>
            <a:r>
              <a:rPr lang="en-US" dirty="0"/>
              <a:t>Unlike class components, functional components can now handle logic using small built-in functions like </a:t>
            </a:r>
            <a:r>
              <a:rPr lang="en-US" dirty="0" err="1"/>
              <a:t>useState</a:t>
            </a:r>
            <a:r>
              <a:rPr lang="en-US" dirty="0"/>
              <a:t>, </a:t>
            </a:r>
            <a:r>
              <a:rPr lang="en-US" dirty="0" err="1"/>
              <a:t>useEffect</a:t>
            </a:r>
            <a:r>
              <a:rPr lang="en-US" dirty="0"/>
              <a:t>, and others.</a:t>
            </a:r>
          </a:p>
          <a:p>
            <a:r>
              <a:rPr lang="en-US" dirty="0"/>
              <a:t>Hooks were first introduced in React v16.8.</a:t>
            </a:r>
            <a:endParaRPr lang="en-MM" dirty="0"/>
          </a:p>
        </p:txBody>
      </p:sp>
    </p:spTree>
    <p:extLst>
      <p:ext uri="{BB962C8B-B14F-4D97-AF65-F5344CB8AC3E}">
        <p14:creationId xmlns:p14="http://schemas.microsoft.com/office/powerpoint/2010/main" val="3392213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69FCB-D748-2759-444F-17070706B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M" dirty="0"/>
              <a:t>Why Hook?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F9B8C-6A5F-9CDB-27C2-37A1D77B4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don’t need class components anymore.</a:t>
            </a:r>
          </a:p>
          <a:p>
            <a:r>
              <a:rPr lang="en-US" dirty="0"/>
              <a:t>Logic becomes reusable and easier to manage.</a:t>
            </a:r>
          </a:p>
          <a:p>
            <a:r>
              <a:rPr lang="en-US" dirty="0"/>
              <a:t>Code is shorter and cleaner.</a:t>
            </a:r>
          </a:p>
          <a:p>
            <a:r>
              <a:rPr lang="en-US" dirty="0"/>
              <a:t>Lifecycle logic can be handled easily using </a:t>
            </a:r>
            <a:r>
              <a:rPr lang="en-US" dirty="0" err="1"/>
              <a:t>useEffect</a:t>
            </a:r>
            <a:r>
              <a:rPr lang="en-US" dirty="0"/>
              <a:t>().</a:t>
            </a:r>
          </a:p>
          <a:p>
            <a:endParaRPr lang="en-MM" dirty="0"/>
          </a:p>
        </p:txBody>
      </p:sp>
    </p:spTree>
    <p:extLst>
      <p:ext uri="{BB962C8B-B14F-4D97-AF65-F5344CB8AC3E}">
        <p14:creationId xmlns:p14="http://schemas.microsoft.com/office/powerpoint/2010/main" val="775537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968AB-6F6E-B1AC-2462-F13DDBE3B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Commonly Used Hooks</a:t>
            </a:r>
            <a:endParaRPr lang="en-M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4D582-E746-8F7D-25C3-5D80F5D39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useState</a:t>
            </a:r>
            <a:r>
              <a:rPr lang="en-US" dirty="0"/>
              <a:t> – </a:t>
            </a:r>
            <a:r>
              <a:rPr lang="en-US" dirty="0" err="1"/>
              <a:t>Hanage</a:t>
            </a:r>
            <a:r>
              <a:rPr lang="en-US" dirty="0"/>
              <a:t> the component’s state</a:t>
            </a:r>
          </a:p>
          <a:p>
            <a:r>
              <a:rPr lang="en-US" dirty="0" err="1"/>
              <a:t>useEffect</a:t>
            </a:r>
            <a:r>
              <a:rPr lang="en-US" dirty="0"/>
              <a:t> – Handles lifecycle logic (mount, update, unmount)</a:t>
            </a:r>
          </a:p>
          <a:p>
            <a:r>
              <a:rPr lang="en-US" dirty="0" err="1"/>
              <a:t>useRef</a:t>
            </a:r>
            <a:r>
              <a:rPr lang="en-US" dirty="0"/>
              <a:t> - Provides a reference to a DOM element or stores a persistent value</a:t>
            </a:r>
          </a:p>
          <a:p>
            <a:r>
              <a:rPr lang="en-US" dirty="0" err="1"/>
              <a:t>useContext</a:t>
            </a:r>
            <a:r>
              <a:rPr lang="en-US" dirty="0"/>
              <a:t> - Accesses a global state or context</a:t>
            </a:r>
          </a:p>
          <a:p>
            <a:r>
              <a:rPr lang="en-US" dirty="0"/>
              <a:t>useMemo - </a:t>
            </a:r>
            <a:r>
              <a:rPr lang="en-US" dirty="0" err="1"/>
              <a:t>Memoizes</a:t>
            </a:r>
            <a:r>
              <a:rPr lang="en-US" dirty="0"/>
              <a:t> an expensive calculation for optimization</a:t>
            </a:r>
          </a:p>
          <a:p>
            <a:r>
              <a:rPr lang="en-US" dirty="0"/>
              <a:t>useCallback - </a:t>
            </a:r>
            <a:r>
              <a:rPr lang="en-US" dirty="0" err="1"/>
              <a:t>Memoizes</a:t>
            </a:r>
            <a:r>
              <a:rPr lang="en-US" dirty="0"/>
              <a:t> a function to prevent unnecessary re-renders</a:t>
            </a:r>
          </a:p>
          <a:p>
            <a:r>
              <a:rPr lang="en-US" dirty="0" err="1"/>
              <a:t>useReducer</a:t>
            </a:r>
            <a:r>
              <a:rPr lang="en-US" dirty="0"/>
              <a:t> - Handles complex state logic (like a small Redux)</a:t>
            </a:r>
          </a:p>
          <a:p>
            <a:r>
              <a:rPr lang="en-US" dirty="0" err="1"/>
              <a:t>useLayoutEffect</a:t>
            </a:r>
            <a:r>
              <a:rPr lang="en-US" dirty="0"/>
              <a:t> - Runs synchronously right after the DOM is updated</a:t>
            </a:r>
            <a:endParaRPr lang="en-MM" dirty="0"/>
          </a:p>
        </p:txBody>
      </p:sp>
    </p:spTree>
    <p:extLst>
      <p:ext uri="{BB962C8B-B14F-4D97-AF65-F5344CB8AC3E}">
        <p14:creationId xmlns:p14="http://schemas.microsoft.com/office/powerpoint/2010/main" val="2899188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CEE98-2024-2590-A2CA-7C4BAF71C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M" dirty="0"/>
              <a:t>Hook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691EF-10F1-0153-B68B-F99E3EAB5C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React, there are two main rules you must follow when using Hooks:</a:t>
            </a:r>
          </a:p>
          <a:p>
            <a:r>
              <a:rPr lang="en-US" dirty="0"/>
              <a:t>Only call Hooks at the top level</a:t>
            </a:r>
          </a:p>
          <a:p>
            <a:pPr lvl="1"/>
            <a:r>
              <a:rPr lang="en-US" dirty="0"/>
              <a:t>Don’t call Hooks inside loops, conditions, or nested functions.</a:t>
            </a:r>
          </a:p>
          <a:p>
            <a:r>
              <a:rPr lang="en-US" dirty="0"/>
              <a:t>Only call Hooks inside React functions</a:t>
            </a:r>
          </a:p>
          <a:p>
            <a:pPr lvl="1"/>
            <a:r>
              <a:rPr lang="en-US" dirty="0"/>
              <a:t> Use them only within React component functions or custom Hooks.</a:t>
            </a:r>
          </a:p>
          <a:p>
            <a:endParaRPr lang="en-MM" dirty="0"/>
          </a:p>
        </p:txBody>
      </p:sp>
    </p:spTree>
    <p:extLst>
      <p:ext uri="{BB962C8B-B14F-4D97-AF65-F5344CB8AC3E}">
        <p14:creationId xmlns:p14="http://schemas.microsoft.com/office/powerpoint/2010/main" val="15027239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613C1-BF47-0734-E475-1CF22111B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M" dirty="0"/>
              <a:t>useContext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81BF2-5B1C-B815-FF60-D23909858B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 </a:t>
            </a:r>
            <a:r>
              <a:rPr lang="en-US" dirty="0" err="1"/>
              <a:t>useContext</a:t>
            </a:r>
            <a:r>
              <a:rPr lang="en-US" dirty="0"/>
              <a:t> Hook allows React components to access shared data (context) without passing props through multiple levels.</a:t>
            </a:r>
          </a:p>
          <a:p>
            <a:r>
              <a:rPr lang="en-US" dirty="0"/>
              <a:t>It helps avoid "props drilling" and makes state management easier.</a:t>
            </a:r>
          </a:p>
          <a:p>
            <a:r>
              <a:rPr lang="en-US" dirty="0"/>
              <a:t>How It Works</a:t>
            </a:r>
          </a:p>
          <a:p>
            <a:pPr lvl="1"/>
            <a:r>
              <a:rPr lang="en-US" dirty="0"/>
              <a:t>Create a Context using </a:t>
            </a:r>
            <a:r>
              <a:rPr lang="en-US" dirty="0" err="1"/>
              <a:t>createContext</a:t>
            </a:r>
            <a:r>
              <a:rPr lang="en-US" dirty="0"/>
              <a:t>()</a:t>
            </a:r>
          </a:p>
          <a:p>
            <a:pPr lvl="1"/>
            <a:r>
              <a:rPr lang="en-US" dirty="0"/>
              <a:t>Provide data using </a:t>
            </a:r>
            <a:r>
              <a:rPr lang="en-US" dirty="0" err="1"/>
              <a:t>Context.Provider</a:t>
            </a:r>
            <a:endParaRPr lang="en-US" dirty="0"/>
          </a:p>
          <a:p>
            <a:pPr lvl="1"/>
            <a:r>
              <a:rPr lang="en-US" dirty="0"/>
              <a:t>Consume data using </a:t>
            </a:r>
            <a:r>
              <a:rPr lang="en-US" dirty="0" err="1"/>
              <a:t>useContext</a:t>
            </a:r>
            <a:r>
              <a:rPr lang="en-US" dirty="0"/>
              <a:t>()</a:t>
            </a:r>
          </a:p>
          <a:p>
            <a:endParaRPr lang="en-MM" dirty="0"/>
          </a:p>
        </p:txBody>
      </p:sp>
    </p:spTree>
    <p:extLst>
      <p:ext uri="{BB962C8B-B14F-4D97-AF65-F5344CB8AC3E}">
        <p14:creationId xmlns:p14="http://schemas.microsoft.com/office/powerpoint/2010/main" val="734025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46EE5-E4D6-8C7F-7FF8-C2388135D0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7591" y="3108960"/>
            <a:ext cx="10418324" cy="1072865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dirty="0">
                <a:latin typeface="Arial Rounded MT Bold" panose="020F0704030504030204" pitchFamily="34" charset="77"/>
              </a:rPr>
              <a:t>Lecture – 7 Hook (useMemo)</a:t>
            </a:r>
            <a:endParaRPr lang="en-US" sz="3600" dirty="0">
              <a:latin typeface="Arial Rounded MT Bold" panose="020F0704030504030204" pitchFamily="34" charset="77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21F6E5-544E-F1C6-1C83-6F1C717490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39789" y="4565264"/>
            <a:ext cx="4763679" cy="817840"/>
          </a:xfrm>
        </p:spPr>
        <p:txBody>
          <a:bodyPr/>
          <a:lstStyle/>
          <a:p>
            <a:r>
              <a:rPr lang="en-US" dirty="0"/>
              <a:t>Dr. Myat Mon Aye(StudyRightNow)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F7755C-F253-69B2-7A94-C216D25068CF}"/>
              </a:ext>
            </a:extLst>
          </p:cNvPr>
          <p:cNvSpPr/>
          <p:nvPr/>
        </p:nvSpPr>
        <p:spPr>
          <a:xfrm>
            <a:off x="2612908" y="1255774"/>
            <a:ext cx="6201153" cy="178510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1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>
                    <a:lumMod val="95000"/>
                  </a:schemeClr>
                </a:solidFill>
                <a:latin typeface="Cooper Black" panose="0208090404030B020404" pitchFamily="18" charset="0"/>
              </a:rPr>
              <a:t>ReactJS</a:t>
            </a:r>
            <a:endParaRPr lang="en-US" sz="11000" b="1" cap="none" spc="0" dirty="0">
              <a:ln w="22225">
                <a:solidFill>
                  <a:schemeClr val="tx1"/>
                </a:solidFill>
                <a:prstDash val="solid"/>
              </a:ln>
              <a:solidFill>
                <a:schemeClr val="bg1">
                  <a:lumMod val="95000"/>
                </a:schemeClr>
              </a:solidFill>
              <a:effectLst/>
              <a:latin typeface="Cooper Black" panose="0208090404030B0204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224D44-F470-FA84-BC7E-78CDDF1BD4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2086" y="1256859"/>
            <a:ext cx="1897922" cy="1690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06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>
        <p14:reveal/>
        <p:sndAc>
          <p:stSnd>
            <p:snd r:embed="rId2" name="Wavecont-Inspire-Full-Length-WAV.wav"/>
          </p:stSnd>
        </p:sndAc>
      </p:transition>
    </mc:Choice>
    <mc:Fallback xmlns="">
      <p:transition spd="slow">
        <p:fade/>
        <p:sndAc>
          <p:stSnd>
            <p:snd r:embed="rId4" name="Wavecont-Inspire-Full-Length-WAV.wav"/>
          </p:stSnd>
        </p:sndAc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77F3D-56AD-1704-839F-6EAEFC7AD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M" dirty="0"/>
              <a:t>useMemo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2F857-1ECD-7652-45A2-36675EE362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useMemo is a React Hook that helps you optimize performance by caching the result of an expensive computation.</a:t>
            </a:r>
          </a:p>
          <a:p>
            <a:r>
              <a:rPr lang="en-US" dirty="0"/>
              <a:t>It only re-computes the value when one of its dependencies changes.</a:t>
            </a:r>
          </a:p>
          <a:p>
            <a:r>
              <a:rPr lang="en-US" dirty="0"/>
              <a:t>Syntax</a:t>
            </a:r>
          </a:p>
          <a:p>
            <a:pPr lvl="1"/>
            <a:r>
              <a:rPr lang="en-US" dirty="0">
                <a:solidFill>
                  <a:srgbClr val="FFFF00"/>
                </a:solidFill>
              </a:rPr>
              <a:t>const </a:t>
            </a:r>
            <a:r>
              <a:rPr lang="en-US" dirty="0" err="1">
                <a:solidFill>
                  <a:srgbClr val="FFFF00"/>
                </a:solidFill>
              </a:rPr>
              <a:t>memoizedValue</a:t>
            </a:r>
            <a:r>
              <a:rPr lang="en-US" dirty="0">
                <a:solidFill>
                  <a:srgbClr val="FFFF00"/>
                </a:solidFill>
              </a:rPr>
              <a:t> = useMemo(() =&gt; function, [</a:t>
            </a:r>
            <a:r>
              <a:rPr lang="en-US" dirty="0" err="1">
                <a:solidFill>
                  <a:srgbClr val="FFFF00"/>
                </a:solidFill>
              </a:rPr>
              <a:t>depdencies</a:t>
            </a:r>
            <a:r>
              <a:rPr lang="en-US" dirty="0">
                <a:solidFill>
                  <a:srgbClr val="FFFF00"/>
                </a:solidFill>
              </a:rPr>
              <a:t>]);</a:t>
            </a:r>
          </a:p>
          <a:p>
            <a:endParaRPr lang="en-US" dirty="0"/>
          </a:p>
          <a:p>
            <a:endParaRPr lang="en-MM" dirty="0"/>
          </a:p>
        </p:txBody>
      </p:sp>
    </p:spTree>
    <p:extLst>
      <p:ext uri="{BB962C8B-B14F-4D97-AF65-F5344CB8AC3E}">
        <p14:creationId xmlns:p14="http://schemas.microsoft.com/office/powerpoint/2010/main" val="39879621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46EE5-E4D6-8C7F-7FF8-C2388135D0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115" y="3108960"/>
            <a:ext cx="10972800" cy="1072865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dirty="0">
                <a:latin typeface="Arial Rounded MT Bold" panose="020F0704030504030204" pitchFamily="34" charset="77"/>
              </a:rPr>
              <a:t>Lecture – 8 Hooks (useCallback)</a:t>
            </a:r>
            <a:endParaRPr lang="en-US" sz="3600" dirty="0">
              <a:latin typeface="Arial Rounded MT Bold" panose="020F0704030504030204" pitchFamily="34" charset="77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21F6E5-544E-F1C6-1C83-6F1C717490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39789" y="4565264"/>
            <a:ext cx="4763679" cy="817840"/>
          </a:xfrm>
        </p:spPr>
        <p:txBody>
          <a:bodyPr/>
          <a:lstStyle/>
          <a:p>
            <a:r>
              <a:rPr lang="en-US" dirty="0"/>
              <a:t>Dr. Myat Mon Aye(StudyRightNow)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F7755C-F253-69B2-7A94-C216D25068CF}"/>
              </a:ext>
            </a:extLst>
          </p:cNvPr>
          <p:cNvSpPr/>
          <p:nvPr/>
        </p:nvSpPr>
        <p:spPr>
          <a:xfrm>
            <a:off x="2612908" y="1255774"/>
            <a:ext cx="6201153" cy="178510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1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>
                    <a:lumMod val="95000"/>
                  </a:schemeClr>
                </a:solidFill>
                <a:latin typeface="Cooper Black" panose="0208090404030B020404" pitchFamily="18" charset="0"/>
              </a:rPr>
              <a:t>ReactJS</a:t>
            </a:r>
            <a:endParaRPr lang="en-US" sz="11000" b="1" cap="none" spc="0" dirty="0">
              <a:ln w="22225">
                <a:solidFill>
                  <a:schemeClr val="tx1"/>
                </a:solidFill>
                <a:prstDash val="solid"/>
              </a:ln>
              <a:solidFill>
                <a:schemeClr val="bg1">
                  <a:lumMod val="95000"/>
                </a:schemeClr>
              </a:solidFill>
              <a:effectLst/>
              <a:latin typeface="Cooper Black" panose="0208090404030B0204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224D44-F470-FA84-BC7E-78CDDF1BD4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2086" y="1256859"/>
            <a:ext cx="1897922" cy="1690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88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>
        <p14:reveal/>
        <p:sndAc>
          <p:stSnd>
            <p:snd r:embed="rId2" name="Wavecont-Inspire-Full-Length-WAV.wav"/>
          </p:stSnd>
        </p:sndAc>
      </p:transition>
    </mc:Choice>
    <mc:Fallback xmlns="">
      <p:transition spd="slow">
        <p:fade/>
        <p:sndAc>
          <p:stSnd>
            <p:snd r:embed="rId4" name="Wavecont-Inspire-Full-Length-WAV.wav"/>
          </p:stSnd>
        </p:sndAc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C020B-4038-936C-299C-6153C5012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M" dirty="0"/>
              <a:t>React.memo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4035B-4391-F814-4A13-CEE1B90A49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Higher-Order Component (HOC) used to memorize functional components.</a:t>
            </a:r>
          </a:p>
          <a:p>
            <a:r>
              <a:rPr lang="en-US" dirty="0"/>
              <a:t>Prevents unnecessary re-rendering if props haven’t changed.</a:t>
            </a:r>
          </a:p>
          <a:p>
            <a:r>
              <a:rPr lang="en-US" dirty="0"/>
              <a:t>Compares previous and current props using shallow comparison.</a:t>
            </a:r>
          </a:p>
          <a:p>
            <a:r>
              <a:rPr lang="en-US" dirty="0"/>
              <a:t>Useful for performance optimization when a component is re-rendering too often.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const Child =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React.memo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(({ data }) =&gt; { return &lt;p&gt;{data}&lt;/p&gt;; });</a:t>
            </a:r>
          </a:p>
          <a:p>
            <a:endParaRPr lang="en-MM" dirty="0"/>
          </a:p>
        </p:txBody>
      </p:sp>
    </p:spTree>
    <p:extLst>
      <p:ext uri="{BB962C8B-B14F-4D97-AF65-F5344CB8AC3E}">
        <p14:creationId xmlns:p14="http://schemas.microsoft.com/office/powerpoint/2010/main" val="2417005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59627-BDF7-68BD-C491-6300A2346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M" dirty="0"/>
              <a:t>useCallback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8F657-87C1-BB3C-DEDC-D3A570E092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React </a:t>
            </a:r>
            <a:r>
              <a:rPr lang="en-US" b="1" dirty="0"/>
              <a:t>Hook</a:t>
            </a:r>
            <a:r>
              <a:rPr lang="en-US" dirty="0"/>
              <a:t> to </a:t>
            </a:r>
            <a:r>
              <a:rPr lang="en-US" dirty="0" err="1"/>
              <a:t>memoize</a:t>
            </a:r>
            <a:r>
              <a:rPr lang="en-US" dirty="0"/>
              <a:t> functions.</a:t>
            </a:r>
          </a:p>
          <a:p>
            <a:r>
              <a:rPr lang="en-US" dirty="0"/>
              <a:t>Keeps the </a:t>
            </a:r>
            <a:r>
              <a:rPr lang="en-US" b="1" dirty="0"/>
              <a:t>same function reference</a:t>
            </a:r>
            <a:r>
              <a:rPr lang="en-US" dirty="0"/>
              <a:t> between renders.</a:t>
            </a:r>
          </a:p>
          <a:p>
            <a:r>
              <a:rPr lang="en-US" dirty="0"/>
              <a:t>Helps </a:t>
            </a:r>
            <a:r>
              <a:rPr lang="en-US" b="1" dirty="0"/>
              <a:t>prevent unnecessary re-renders</a:t>
            </a:r>
            <a:r>
              <a:rPr lang="en-US" dirty="0"/>
              <a:t> of child components.</a:t>
            </a:r>
          </a:p>
          <a:p>
            <a:r>
              <a:rPr lang="en-MM" dirty="0"/>
              <a:t>syntax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FFFF00"/>
                </a:solidFill>
              </a:rPr>
              <a:t>const </a:t>
            </a:r>
            <a:r>
              <a:rPr lang="en-US" dirty="0" err="1">
                <a:solidFill>
                  <a:srgbClr val="FFFF00"/>
                </a:solidFill>
              </a:rPr>
              <a:t>memoizedCallback</a:t>
            </a:r>
            <a:r>
              <a:rPr lang="en-US" dirty="0">
                <a:solidFill>
                  <a:srgbClr val="FFFF00"/>
                </a:solidFill>
              </a:rPr>
              <a:t> = useCallback(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FFFF00"/>
                </a:solidFill>
              </a:rPr>
              <a:t>  () =&gt; { // function body}, [dependencies]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FFFF00"/>
                </a:solidFill>
              </a:rPr>
              <a:t>);</a:t>
            </a:r>
            <a:endParaRPr lang="en-MM" dirty="0">
              <a:solidFill>
                <a:srgbClr val="FFFF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1A2A63-BD73-5617-D7B4-80F799E13ABF}"/>
              </a:ext>
            </a:extLst>
          </p:cNvPr>
          <p:cNvSpPr txBox="1"/>
          <p:nvPr/>
        </p:nvSpPr>
        <p:spPr>
          <a:xfrm>
            <a:off x="4299626" y="-1459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MM"/>
          </a:p>
        </p:txBody>
      </p:sp>
    </p:spTree>
    <p:extLst>
      <p:ext uri="{BB962C8B-B14F-4D97-AF65-F5344CB8AC3E}">
        <p14:creationId xmlns:p14="http://schemas.microsoft.com/office/powerpoint/2010/main" val="3807840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46EE5-E4D6-8C7F-7FF8-C2388135D0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115" y="3108960"/>
            <a:ext cx="10972800" cy="1072865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dirty="0">
                <a:latin typeface="Arial Rounded MT Bold" panose="020F0704030504030204" pitchFamily="34" charset="77"/>
              </a:rPr>
              <a:t>Lecture – 9 Hooks (</a:t>
            </a:r>
            <a:r>
              <a:rPr lang="en-US" dirty="0" err="1">
                <a:latin typeface="Arial Rounded MT Bold" panose="020F0704030504030204" pitchFamily="34" charset="77"/>
              </a:rPr>
              <a:t>useReducer</a:t>
            </a:r>
            <a:r>
              <a:rPr lang="en-US" dirty="0">
                <a:latin typeface="Arial Rounded MT Bold" panose="020F0704030504030204" pitchFamily="34" charset="77"/>
              </a:rPr>
              <a:t>)</a:t>
            </a:r>
            <a:endParaRPr lang="en-US" sz="3600" dirty="0">
              <a:latin typeface="Arial Rounded MT Bold" panose="020F0704030504030204" pitchFamily="34" charset="77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21F6E5-544E-F1C6-1C83-6F1C717490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39789" y="4565264"/>
            <a:ext cx="4763679" cy="817840"/>
          </a:xfrm>
        </p:spPr>
        <p:txBody>
          <a:bodyPr/>
          <a:lstStyle/>
          <a:p>
            <a:r>
              <a:rPr lang="en-US" dirty="0"/>
              <a:t>Dr. Myat Mon Aye(StudyRightNow)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F7755C-F253-69B2-7A94-C216D25068CF}"/>
              </a:ext>
            </a:extLst>
          </p:cNvPr>
          <p:cNvSpPr/>
          <p:nvPr/>
        </p:nvSpPr>
        <p:spPr>
          <a:xfrm>
            <a:off x="2612908" y="1255774"/>
            <a:ext cx="6201153" cy="178510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1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>
                    <a:lumMod val="95000"/>
                  </a:schemeClr>
                </a:solidFill>
                <a:latin typeface="Cooper Black" panose="0208090404030B020404" pitchFamily="18" charset="0"/>
              </a:rPr>
              <a:t>ReactJS</a:t>
            </a:r>
            <a:endParaRPr lang="en-US" sz="11000" b="1" cap="none" spc="0" dirty="0">
              <a:ln w="22225">
                <a:solidFill>
                  <a:schemeClr val="tx1"/>
                </a:solidFill>
                <a:prstDash val="solid"/>
              </a:ln>
              <a:solidFill>
                <a:schemeClr val="bg1">
                  <a:lumMod val="95000"/>
                </a:schemeClr>
              </a:solidFill>
              <a:effectLst/>
              <a:latin typeface="Cooper Black" panose="0208090404030B0204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224D44-F470-FA84-BC7E-78CDDF1BD4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2086" y="1256859"/>
            <a:ext cx="1897922" cy="1690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562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>
        <p14:reveal/>
        <p:sndAc>
          <p:stSnd>
            <p:snd r:embed="rId2" name="Wavecont-Inspire-Full-Length-WAV.wav"/>
          </p:stSnd>
        </p:sndAc>
      </p:transition>
    </mc:Choice>
    <mc:Fallback xmlns="">
      <p:transition spd="slow">
        <p:fade/>
        <p:sndAc>
          <p:stSnd>
            <p:snd r:embed="rId4" name="Wavecont-Inspire-Full-Length-WAV.wav"/>
          </p:stSnd>
        </p:sndAc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50281-B784-A9DA-C4CE-13AB28FC5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M" dirty="0"/>
              <a:t>useReducer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4DDE5-EC47-BEBD-F6AC-05B179547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useReducer</a:t>
            </a:r>
            <a:r>
              <a:rPr lang="en-US" dirty="0"/>
              <a:t> is an </a:t>
            </a:r>
            <a:r>
              <a:rPr lang="en-US" dirty="0">
                <a:solidFill>
                  <a:srgbClr val="FFFF00"/>
                </a:solidFill>
              </a:rPr>
              <a:t>alternative to </a:t>
            </a:r>
            <a:r>
              <a:rPr lang="en-US" dirty="0" err="1">
                <a:solidFill>
                  <a:srgbClr val="FFFF00"/>
                </a:solidFill>
              </a:rPr>
              <a:t>useState</a:t>
            </a:r>
            <a:r>
              <a:rPr lang="en-US" dirty="0">
                <a:solidFill>
                  <a:srgbClr val="FFFF00"/>
                </a:solidFill>
              </a:rPr>
              <a:t> </a:t>
            </a:r>
            <a:r>
              <a:rPr lang="en-US" dirty="0"/>
              <a:t>used </a:t>
            </a:r>
            <a:r>
              <a:rPr lang="en-US" dirty="0">
                <a:solidFill>
                  <a:srgbClr val="FFFF00"/>
                </a:solidFill>
              </a:rPr>
              <a:t>for managing complex state logic</a:t>
            </a:r>
            <a:r>
              <a:rPr lang="en-US" dirty="0"/>
              <a:t> in React components.</a:t>
            </a:r>
          </a:p>
          <a:p>
            <a:r>
              <a:rPr lang="en-US" dirty="0"/>
              <a:t>It works based on a reducer function, state, and actions.</a:t>
            </a:r>
          </a:p>
          <a:p>
            <a:r>
              <a:rPr lang="en-US" dirty="0"/>
              <a:t>Syntax</a:t>
            </a:r>
          </a:p>
          <a:p>
            <a:pPr lvl="1"/>
            <a:r>
              <a:rPr lang="en-US" dirty="0">
                <a:solidFill>
                  <a:srgbClr val="FFFF00"/>
                </a:solidFill>
              </a:rPr>
              <a:t>const [state, dispatch] = </a:t>
            </a:r>
            <a:r>
              <a:rPr lang="en-US" dirty="0" err="1">
                <a:solidFill>
                  <a:srgbClr val="FFFF00"/>
                </a:solidFill>
              </a:rPr>
              <a:t>useReducer</a:t>
            </a:r>
            <a:r>
              <a:rPr lang="en-US" dirty="0">
                <a:solidFill>
                  <a:srgbClr val="FFFF00"/>
                </a:solidFill>
              </a:rPr>
              <a:t>(reducer, </a:t>
            </a:r>
            <a:r>
              <a:rPr lang="en-US" dirty="0" err="1">
                <a:solidFill>
                  <a:srgbClr val="FFFF00"/>
                </a:solidFill>
              </a:rPr>
              <a:t>initialState</a:t>
            </a:r>
            <a:r>
              <a:rPr lang="en-US" dirty="0">
                <a:solidFill>
                  <a:srgbClr val="FFFF00"/>
                </a:solidFill>
              </a:rPr>
              <a:t>);</a:t>
            </a:r>
          </a:p>
          <a:p>
            <a:r>
              <a:rPr lang="en-US" b="1" dirty="0"/>
              <a:t>reducer:</a:t>
            </a:r>
            <a:r>
              <a:rPr lang="en-US" dirty="0"/>
              <a:t> Function that defines how state changes</a:t>
            </a:r>
          </a:p>
          <a:p>
            <a:r>
              <a:rPr lang="en-US" b="1" dirty="0" err="1"/>
              <a:t>initialState</a:t>
            </a:r>
            <a:r>
              <a:rPr lang="en-US" b="1" dirty="0"/>
              <a:t>:</a:t>
            </a:r>
            <a:r>
              <a:rPr lang="en-US" dirty="0"/>
              <a:t> Starting state value</a:t>
            </a:r>
          </a:p>
          <a:p>
            <a:r>
              <a:rPr lang="en-US" b="1" dirty="0"/>
              <a:t>dispatch:</a:t>
            </a:r>
            <a:r>
              <a:rPr lang="en-US" dirty="0"/>
              <a:t> Function used to trigger actions</a:t>
            </a:r>
          </a:p>
          <a:p>
            <a:endParaRPr lang="en-MM" dirty="0"/>
          </a:p>
        </p:txBody>
      </p:sp>
    </p:spTree>
    <p:extLst>
      <p:ext uri="{BB962C8B-B14F-4D97-AF65-F5344CB8AC3E}">
        <p14:creationId xmlns:p14="http://schemas.microsoft.com/office/powerpoint/2010/main" val="22532974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46EE5-E4D6-8C7F-7FF8-C2388135D0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115" y="3108960"/>
            <a:ext cx="10972800" cy="1072865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dirty="0">
                <a:latin typeface="Arial Rounded MT Bold" panose="020F0704030504030204" pitchFamily="34" charset="77"/>
              </a:rPr>
              <a:t>Lecture – 10 Hooks (</a:t>
            </a:r>
            <a:r>
              <a:rPr lang="en-US" dirty="0" err="1">
                <a:latin typeface="Arial Rounded MT Bold" panose="020F0704030504030204" pitchFamily="34" charset="77"/>
              </a:rPr>
              <a:t>useLayoutEffect</a:t>
            </a:r>
            <a:r>
              <a:rPr lang="en-US" dirty="0">
                <a:latin typeface="Arial Rounded MT Bold" panose="020F0704030504030204" pitchFamily="34" charset="77"/>
              </a:rPr>
              <a:t>)</a:t>
            </a:r>
            <a:endParaRPr lang="en-US" sz="3600" dirty="0">
              <a:latin typeface="Arial Rounded MT Bold" panose="020F0704030504030204" pitchFamily="34" charset="77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21F6E5-544E-F1C6-1C83-6F1C717490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39789" y="4565264"/>
            <a:ext cx="4763679" cy="817840"/>
          </a:xfrm>
        </p:spPr>
        <p:txBody>
          <a:bodyPr/>
          <a:lstStyle/>
          <a:p>
            <a:r>
              <a:rPr lang="en-US" dirty="0"/>
              <a:t>Dr. Myat Mon Aye(StudyRightNow)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F7755C-F253-69B2-7A94-C216D25068CF}"/>
              </a:ext>
            </a:extLst>
          </p:cNvPr>
          <p:cNvSpPr/>
          <p:nvPr/>
        </p:nvSpPr>
        <p:spPr>
          <a:xfrm>
            <a:off x="2612908" y="1255774"/>
            <a:ext cx="6201153" cy="178510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1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>
                    <a:lumMod val="95000"/>
                  </a:schemeClr>
                </a:solidFill>
                <a:latin typeface="Cooper Black" panose="0208090404030B020404" pitchFamily="18" charset="0"/>
              </a:rPr>
              <a:t>ReactJS</a:t>
            </a:r>
            <a:endParaRPr lang="en-US" sz="11000" b="1" cap="none" spc="0" dirty="0">
              <a:ln w="22225">
                <a:solidFill>
                  <a:schemeClr val="tx1"/>
                </a:solidFill>
                <a:prstDash val="solid"/>
              </a:ln>
              <a:solidFill>
                <a:schemeClr val="bg1">
                  <a:lumMod val="95000"/>
                </a:schemeClr>
              </a:solidFill>
              <a:effectLst/>
              <a:latin typeface="Cooper Black" panose="0208090404030B0204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224D44-F470-FA84-BC7E-78CDDF1BD4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2086" y="1256859"/>
            <a:ext cx="1897922" cy="1690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790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>
        <p14:reveal/>
        <p:sndAc>
          <p:stSnd>
            <p:snd r:embed="rId2" name="Wavecont-Inspire-Full-Length-WAV.wav"/>
          </p:stSnd>
        </p:sndAc>
      </p:transition>
    </mc:Choice>
    <mc:Fallback xmlns="">
      <p:transition spd="slow">
        <p:fade/>
        <p:sndAc>
          <p:stSnd>
            <p:snd r:embed="rId4" name="Wavecont-Inspire-Full-Length-WAV.wav"/>
          </p:stSnd>
        </p:sndAc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F9D46-FE2E-F7B7-178B-9727026D4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M" dirty="0"/>
              <a:t>useLayoutEffect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F8F00-B9BD-A9C9-3D68-543EF395E2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Runs </a:t>
            </a:r>
            <a:r>
              <a:rPr lang="en-US" b="1" dirty="0"/>
              <a:t>before the browser paints</a:t>
            </a:r>
            <a:r>
              <a:rPr lang="en-US" dirty="0"/>
              <a:t> the screen</a:t>
            </a:r>
          </a:p>
          <a:p>
            <a:r>
              <a:rPr lang="en-US" dirty="0"/>
              <a:t>Works </a:t>
            </a:r>
            <a:r>
              <a:rPr lang="en-US" b="1" dirty="0"/>
              <a:t>synchronously</a:t>
            </a:r>
            <a:r>
              <a:rPr lang="en-US" dirty="0"/>
              <a:t> (blocks paint until finished)</a:t>
            </a:r>
          </a:p>
          <a:p>
            <a:r>
              <a:rPr lang="en-US" dirty="0"/>
              <a:t>Ideal for </a:t>
            </a:r>
            <a:r>
              <a:rPr lang="en-US" b="1" dirty="0"/>
              <a:t>DOM measurements or layout adjustments </a:t>
            </a:r>
            <a:r>
              <a:rPr lang="en-US" dirty="0"/>
              <a:t>e.g. reading element size, changing style before user sees it</a:t>
            </a:r>
          </a:p>
          <a:p>
            <a:r>
              <a:rPr lang="en-US" dirty="0"/>
              <a:t>Prevents </a:t>
            </a:r>
            <a:r>
              <a:rPr lang="en-US" b="1" dirty="0"/>
              <a:t>visible flicker</a:t>
            </a:r>
            <a:r>
              <a:rPr lang="en-US" dirty="0"/>
              <a:t> or layout shifting</a:t>
            </a:r>
          </a:p>
        </p:txBody>
      </p:sp>
    </p:spTree>
    <p:extLst>
      <p:ext uri="{BB962C8B-B14F-4D97-AF65-F5344CB8AC3E}">
        <p14:creationId xmlns:p14="http://schemas.microsoft.com/office/powerpoint/2010/main" val="985417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7EF52-E505-23DC-3C72-63385B50E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M" dirty="0"/>
              <a:t>useEffect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DCF8A-11AB-B905-8CE2-E0EC9957A6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Runs after the component is painted on the screen</a:t>
            </a:r>
          </a:p>
          <a:p>
            <a:r>
              <a:rPr lang="en-US" dirty="0"/>
              <a:t>Works asynchronously (does not block the UI rendering)</a:t>
            </a:r>
          </a:p>
          <a:p>
            <a:r>
              <a:rPr lang="en-US" dirty="0"/>
              <a:t>Ideal for non-visual side effects like: Fetching data etc.</a:t>
            </a:r>
          </a:p>
          <a:p>
            <a:r>
              <a:rPr lang="en-US" dirty="0"/>
              <a:t>Can cause UI flicker if DOM updates affect layout or style</a:t>
            </a:r>
          </a:p>
          <a:p>
            <a:endParaRPr lang="en-MM" dirty="0"/>
          </a:p>
        </p:txBody>
      </p:sp>
    </p:spTree>
    <p:extLst>
      <p:ext uri="{BB962C8B-B14F-4D97-AF65-F5344CB8AC3E}">
        <p14:creationId xmlns:p14="http://schemas.microsoft.com/office/powerpoint/2010/main" val="1573719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46EE5-E4D6-8C7F-7FF8-C2388135D0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219977"/>
            <a:ext cx="12192000" cy="107286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4800" dirty="0">
                <a:latin typeface="Arial Rounded MT Bold" panose="020F0704030504030204" pitchFamily="34" charset="77"/>
              </a:rPr>
              <a:t>Lecture – 11 </a:t>
            </a:r>
            <a:br>
              <a:rPr lang="en-US" sz="4800" dirty="0">
                <a:latin typeface="Arial Rounded MT Bold" panose="020F0704030504030204" pitchFamily="34" charset="77"/>
              </a:rPr>
            </a:br>
            <a:r>
              <a:rPr lang="en-US" sz="4800" dirty="0">
                <a:latin typeface="Arial Rounded MT Bold" panose="020F0704030504030204" pitchFamily="34" charset="77"/>
              </a:rPr>
              <a:t>Fetching Data from APIs in ReactJS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21F6E5-544E-F1C6-1C83-6F1C717490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50382" y="4783301"/>
            <a:ext cx="4763679" cy="817840"/>
          </a:xfrm>
        </p:spPr>
        <p:txBody>
          <a:bodyPr/>
          <a:lstStyle/>
          <a:p>
            <a:r>
              <a:rPr lang="en-US" dirty="0"/>
              <a:t>Dr. Myat Mon Aye(StudyRightNow)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F7755C-F253-69B2-7A94-C216D25068CF}"/>
              </a:ext>
            </a:extLst>
          </p:cNvPr>
          <p:cNvSpPr/>
          <p:nvPr/>
        </p:nvSpPr>
        <p:spPr>
          <a:xfrm>
            <a:off x="2612908" y="944414"/>
            <a:ext cx="6201153" cy="178510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1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>
                    <a:lumMod val="95000"/>
                  </a:schemeClr>
                </a:solidFill>
                <a:latin typeface="Cooper Black" panose="0208090404030B020404" pitchFamily="18" charset="0"/>
              </a:rPr>
              <a:t>ReactJS</a:t>
            </a:r>
            <a:endParaRPr lang="en-US" sz="11000" b="1" cap="none" spc="0" dirty="0">
              <a:ln w="22225">
                <a:solidFill>
                  <a:schemeClr val="tx1"/>
                </a:solidFill>
                <a:prstDash val="solid"/>
              </a:ln>
              <a:solidFill>
                <a:schemeClr val="bg1">
                  <a:lumMod val="95000"/>
                </a:schemeClr>
              </a:solidFill>
              <a:effectLst/>
              <a:latin typeface="Cooper Black" panose="0208090404030B0204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224D44-F470-FA84-BC7E-78CDDF1BD4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0131" y="1076775"/>
            <a:ext cx="1897922" cy="1690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306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>
        <p14:reveal/>
        <p:sndAc>
          <p:stSnd>
            <p:snd r:embed="rId2" name="Wavecont-Inspire-Full-Length-WAV.wav"/>
          </p:stSnd>
        </p:sndAc>
      </p:transition>
    </mc:Choice>
    <mc:Fallback xmlns="">
      <p:transition spd="slow">
        <p:fade/>
        <p:sndAc>
          <p:stSnd>
            <p:snd r:embed="rId4" name="Wavecont-Inspire-Full-Length-WAV.wav"/>
          </p:stSnd>
        </p:sndAc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F8811-3A92-94D5-DC3C-74B9758DF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M" dirty="0"/>
              <a:t>What is Fetch API?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8413F-9796-D1F7-2999-C22ED36708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 Fetch API allows JavaScript to make HTTP requests (like GET, POST, PUT, DELETE) to servers to retrieve or send data.</a:t>
            </a:r>
          </a:p>
          <a:p>
            <a:r>
              <a:rPr lang="en-US" dirty="0"/>
              <a:t>It returns a Promise, which means it works asynchronously (in the background).</a:t>
            </a:r>
          </a:p>
          <a:p>
            <a:r>
              <a:rPr lang="en-US" dirty="0"/>
              <a:t>A Promise is an object that represents the eventual completion or failure of an asynchronous operation.</a:t>
            </a:r>
          </a:p>
          <a:p>
            <a:r>
              <a:rPr lang="en-US" dirty="0"/>
              <a:t>It is used to handle tasks that take time — like fetching data from an API or reading a file.</a:t>
            </a:r>
            <a:endParaRPr lang="en-MM" dirty="0"/>
          </a:p>
        </p:txBody>
      </p:sp>
    </p:spTree>
    <p:extLst>
      <p:ext uri="{BB962C8B-B14F-4D97-AF65-F5344CB8AC3E}">
        <p14:creationId xmlns:p14="http://schemas.microsoft.com/office/powerpoint/2010/main" val="416889858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72068-1E3D-E111-B2EB-FFFF881B2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M" dirty="0"/>
              <a:t>Basic Syntax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DA7D9-AB6D-F57C-BA0D-6921A8B9EA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fetch("https://</a:t>
            </a:r>
            <a:r>
              <a:rPr lang="en-US" dirty="0" err="1"/>
              <a:t>jsonplaceholder.typicode.com</a:t>
            </a:r>
            <a:r>
              <a:rPr lang="en-US" dirty="0"/>
              <a:t>/users")</a:t>
            </a:r>
          </a:p>
          <a:p>
            <a:pPr marL="0" indent="0">
              <a:buNone/>
            </a:pPr>
            <a:r>
              <a:rPr lang="en-US" dirty="0"/>
              <a:t>  .then(response =&gt; </a:t>
            </a:r>
            <a:r>
              <a:rPr lang="en-US" dirty="0" err="1"/>
              <a:t>response.json</a:t>
            </a:r>
            <a:r>
              <a:rPr lang="en-US" dirty="0"/>
              <a:t>())  // Convert response to JSON</a:t>
            </a:r>
          </a:p>
          <a:p>
            <a:pPr marL="0" indent="0">
              <a:buNone/>
            </a:pPr>
            <a:r>
              <a:rPr lang="en-US" dirty="0"/>
              <a:t>  .then(data =&gt; </a:t>
            </a:r>
            <a:r>
              <a:rPr lang="en-US" dirty="0" err="1"/>
              <a:t>console.log</a:t>
            </a:r>
            <a:r>
              <a:rPr lang="en-US" dirty="0"/>
              <a:t>(data))    // Handle the data</a:t>
            </a:r>
          </a:p>
          <a:p>
            <a:pPr marL="0" indent="0">
              <a:buNone/>
            </a:pPr>
            <a:r>
              <a:rPr lang="en-US" dirty="0"/>
              <a:t>  .catch(error =&gt; </a:t>
            </a:r>
            <a:r>
              <a:rPr lang="en-US" dirty="0" err="1"/>
              <a:t>console.log</a:t>
            </a:r>
            <a:r>
              <a:rPr lang="en-US" dirty="0"/>
              <a:t>(error)); // Handle errors</a:t>
            </a:r>
          </a:p>
          <a:p>
            <a:endParaRPr lang="en-MM" dirty="0"/>
          </a:p>
        </p:txBody>
      </p:sp>
    </p:spTree>
    <p:extLst>
      <p:ext uri="{BB962C8B-B14F-4D97-AF65-F5344CB8AC3E}">
        <p14:creationId xmlns:p14="http://schemas.microsoft.com/office/powerpoint/2010/main" val="22044702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38A7F-4E1C-0326-1A1D-A7EF3E712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Fetch API with Async/Await</a:t>
            </a:r>
            <a:endParaRPr lang="en-M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48564-6EEC-F003-AAC0-DE432706B9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async function </a:t>
            </a:r>
            <a:r>
              <a:rPr lang="en-US" dirty="0" err="1"/>
              <a:t>fetchUsers</a:t>
            </a:r>
            <a:r>
              <a:rPr lang="en-US" dirty="0"/>
              <a:t>() {</a:t>
            </a:r>
          </a:p>
          <a:p>
            <a:pPr marL="0" indent="0">
              <a:buNone/>
            </a:pPr>
            <a:r>
              <a:rPr lang="en-US" dirty="0"/>
              <a:t>  try {</a:t>
            </a:r>
          </a:p>
          <a:p>
            <a:pPr marL="0" indent="0">
              <a:buNone/>
            </a:pPr>
            <a:r>
              <a:rPr lang="en-US" dirty="0"/>
              <a:t>    const response = await fetch("https://</a:t>
            </a:r>
            <a:r>
              <a:rPr lang="en-US" dirty="0" err="1"/>
              <a:t>jsonplaceholder.typicode.com</a:t>
            </a:r>
            <a:r>
              <a:rPr lang="en-US" dirty="0"/>
              <a:t>/users");</a:t>
            </a:r>
          </a:p>
          <a:p>
            <a:pPr marL="0" indent="0">
              <a:buNone/>
            </a:pPr>
            <a:r>
              <a:rPr lang="en-US" dirty="0"/>
              <a:t>    const data = await </a:t>
            </a:r>
            <a:r>
              <a:rPr lang="en-US" dirty="0" err="1"/>
              <a:t>response.json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console.log</a:t>
            </a:r>
            <a:r>
              <a:rPr lang="en-US" dirty="0"/>
              <a:t>(data);</a:t>
            </a:r>
          </a:p>
          <a:p>
            <a:pPr marL="0" indent="0">
              <a:buNone/>
            </a:pPr>
            <a:r>
              <a:rPr lang="en-US" dirty="0"/>
              <a:t>  } catch (error) 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console.log</a:t>
            </a:r>
            <a:r>
              <a:rPr lang="en-US" dirty="0"/>
              <a:t>("Error:", error);</a:t>
            </a:r>
          </a:p>
          <a:p>
            <a:pPr marL="0" indent="0">
              <a:buNone/>
            </a:pPr>
            <a:r>
              <a:rPr lang="en-US" dirty="0"/>
              <a:t>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endParaRPr lang="en-MM" dirty="0"/>
          </a:p>
        </p:txBody>
      </p:sp>
    </p:spTree>
    <p:extLst>
      <p:ext uri="{BB962C8B-B14F-4D97-AF65-F5344CB8AC3E}">
        <p14:creationId xmlns:p14="http://schemas.microsoft.com/office/powerpoint/2010/main" val="180152958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46EE5-E4D6-8C7F-7FF8-C2388135D0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219977"/>
            <a:ext cx="12192000" cy="107286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4800" dirty="0">
                <a:latin typeface="Arial Rounded MT Bold" panose="020F0704030504030204" pitchFamily="34" charset="77"/>
              </a:rPr>
              <a:t>Lecture – 12 </a:t>
            </a:r>
            <a:br>
              <a:rPr lang="en-US" sz="4800" dirty="0">
                <a:latin typeface="Arial Rounded MT Bold" panose="020F0704030504030204" pitchFamily="34" charset="77"/>
              </a:rPr>
            </a:br>
            <a:r>
              <a:rPr lang="en-US" sz="4800" dirty="0">
                <a:latin typeface="Arial Rounded MT Bold" panose="020F0704030504030204" pitchFamily="34" charset="77"/>
              </a:rPr>
              <a:t>Registration ( ReactJS + PHP)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21F6E5-544E-F1C6-1C83-6F1C717490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50382" y="4783301"/>
            <a:ext cx="4763679" cy="817840"/>
          </a:xfrm>
        </p:spPr>
        <p:txBody>
          <a:bodyPr/>
          <a:lstStyle/>
          <a:p>
            <a:r>
              <a:rPr lang="en-US" dirty="0"/>
              <a:t>Dr. Myat Mon Aye(StudyRightNow)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F7755C-F253-69B2-7A94-C216D25068CF}"/>
              </a:ext>
            </a:extLst>
          </p:cNvPr>
          <p:cNvSpPr/>
          <p:nvPr/>
        </p:nvSpPr>
        <p:spPr>
          <a:xfrm>
            <a:off x="2612908" y="944414"/>
            <a:ext cx="6201153" cy="178510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1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>
                    <a:lumMod val="95000"/>
                  </a:schemeClr>
                </a:solidFill>
                <a:latin typeface="Cooper Black" panose="0208090404030B020404" pitchFamily="18" charset="0"/>
              </a:rPr>
              <a:t>ReactJS</a:t>
            </a:r>
            <a:endParaRPr lang="en-US" sz="11000" b="1" cap="none" spc="0" dirty="0">
              <a:ln w="22225">
                <a:solidFill>
                  <a:schemeClr val="tx1"/>
                </a:solidFill>
                <a:prstDash val="solid"/>
              </a:ln>
              <a:solidFill>
                <a:schemeClr val="bg1">
                  <a:lumMod val="95000"/>
                </a:schemeClr>
              </a:solidFill>
              <a:effectLst/>
              <a:latin typeface="Cooper Black" panose="0208090404030B0204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224D44-F470-FA84-BC7E-78CDDF1BD4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0131" y="1076775"/>
            <a:ext cx="1897922" cy="1690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465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>
        <p14:reveal/>
        <p:sndAc>
          <p:stSnd>
            <p:snd r:embed="rId2" name="Wavecont-Inspire-Full-Length-WAV.wav"/>
          </p:stSnd>
        </p:sndAc>
      </p:transition>
    </mc:Choice>
    <mc:Fallback xmlns="">
      <p:transition spd="slow">
        <p:fade/>
        <p:sndAc>
          <p:stSnd>
            <p:snd r:embed="rId4" name="Wavecont-Inspire-Full-Length-WAV.wav"/>
          </p:stSnd>
        </p:sndAc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E6FEC-819B-785C-DDB9-FDD467E61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M" dirty="0"/>
              <a:t>Send Data From ReactJS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E0E66-F04E-8008-DCCA-1D3786EA8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16731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const </a:t>
            </a:r>
            <a:r>
              <a:rPr lang="en-US" dirty="0" err="1"/>
              <a:t>handleSubmit</a:t>
            </a:r>
            <a:r>
              <a:rPr lang="en-US" dirty="0"/>
              <a:t> = </a:t>
            </a:r>
            <a:r>
              <a:rPr lang="en-US" dirty="0">
                <a:solidFill>
                  <a:srgbClr val="FFFF00"/>
                </a:solidFill>
              </a:rPr>
              <a:t>async</a:t>
            </a:r>
            <a:r>
              <a:rPr lang="en-US" dirty="0"/>
              <a:t> (e) =&gt; {</a:t>
            </a:r>
          </a:p>
          <a:p>
            <a:pPr marL="0" indent="0">
              <a:buNone/>
            </a:pPr>
            <a:r>
              <a:rPr lang="en-US" dirty="0">
                <a:solidFill>
                  <a:srgbClr val="FFFF00"/>
                </a:solidFill>
              </a:rPr>
              <a:t>    </a:t>
            </a:r>
            <a:r>
              <a:rPr lang="en-US" dirty="0" err="1">
                <a:solidFill>
                  <a:srgbClr val="FFFF00"/>
                </a:solidFill>
              </a:rPr>
              <a:t>e.preventDefault</a:t>
            </a:r>
            <a:r>
              <a:rPr lang="en-US" dirty="0">
                <a:solidFill>
                  <a:srgbClr val="FFFF00"/>
                </a:solidFill>
              </a:rPr>
              <a:t>();</a:t>
            </a:r>
          </a:p>
          <a:p>
            <a:pPr marL="0" indent="0">
              <a:buNone/>
            </a:pPr>
            <a:r>
              <a:rPr lang="en-US" dirty="0"/>
              <a:t>    const res = await fetch("http://localhost/</a:t>
            </a:r>
            <a:r>
              <a:rPr lang="en-US" dirty="0" err="1"/>
              <a:t>register.php</a:t>
            </a:r>
            <a:r>
              <a:rPr lang="en-US" dirty="0"/>
              <a:t>", {</a:t>
            </a:r>
          </a:p>
          <a:p>
            <a:pPr marL="457200" lvl="1" indent="0">
              <a:buNone/>
            </a:pPr>
            <a:r>
              <a:rPr lang="en-US" dirty="0"/>
              <a:t>      method: "POST",</a:t>
            </a:r>
          </a:p>
          <a:p>
            <a:pPr marL="457200" lvl="1" indent="0">
              <a:buNone/>
            </a:pPr>
            <a:r>
              <a:rPr lang="en-US" dirty="0"/>
              <a:t>      headers: { "Content-Type": "application/</a:t>
            </a:r>
            <a:r>
              <a:rPr lang="en-US" dirty="0" err="1"/>
              <a:t>json</a:t>
            </a:r>
            <a:r>
              <a:rPr lang="en-US" dirty="0"/>
              <a:t>" },</a:t>
            </a:r>
          </a:p>
          <a:p>
            <a:pPr marL="457200" lvl="1" indent="0">
              <a:buNone/>
            </a:pPr>
            <a:r>
              <a:rPr lang="en-US" dirty="0"/>
              <a:t>      body: </a:t>
            </a:r>
            <a:r>
              <a:rPr lang="en-US" dirty="0" err="1"/>
              <a:t>JSON.stringify</a:t>
            </a:r>
            <a:r>
              <a:rPr lang="en-US" dirty="0"/>
              <a:t>(</a:t>
            </a:r>
            <a:r>
              <a:rPr lang="en-US" dirty="0" err="1"/>
              <a:t>formData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});</a:t>
            </a:r>
          </a:p>
          <a:p>
            <a:pPr marL="0" indent="0">
              <a:buNone/>
            </a:pPr>
            <a:r>
              <a:rPr lang="en-US" dirty="0"/>
              <a:t>    const data = await </a:t>
            </a:r>
            <a:r>
              <a:rPr lang="en-US" dirty="0" err="1"/>
              <a:t>res.json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setMessage</a:t>
            </a:r>
            <a:r>
              <a:rPr lang="en-US" dirty="0"/>
              <a:t>(</a:t>
            </a:r>
            <a:r>
              <a:rPr lang="en-US" dirty="0" err="1"/>
              <a:t>data.message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  };</a:t>
            </a:r>
            <a:endParaRPr lang="en-MM" dirty="0"/>
          </a:p>
        </p:txBody>
      </p:sp>
    </p:spTree>
    <p:extLst>
      <p:ext uri="{BB962C8B-B14F-4D97-AF65-F5344CB8AC3E}">
        <p14:creationId xmlns:p14="http://schemas.microsoft.com/office/powerpoint/2010/main" val="418861396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5ED0F-244F-12B0-2521-C93ACEDB2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PHP Headers for ReactJS + PHP API</a:t>
            </a:r>
            <a:endParaRPr lang="en-M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F10BF-C6A7-D8C5-A98B-E43E7AE87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These headers are used </a:t>
            </a:r>
            <a:r>
              <a:rPr lang="en-US" dirty="0">
                <a:solidFill>
                  <a:srgbClr val="FFFF00"/>
                </a:solidFill>
              </a:rPr>
              <a:t>to enable CORS (Cross-Origin Resource Sharing) and allow communication between ReactJS (frontend) and PHP (backend) running on different servers or ports</a:t>
            </a:r>
            <a:r>
              <a:rPr lang="en-US" dirty="0"/>
              <a:t>.</a:t>
            </a:r>
          </a:p>
          <a:p>
            <a:pPr marL="457200" lvl="1" indent="0" algn="l"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header("Access-Control-Allow-Origin: *");</a:t>
            </a:r>
          </a:p>
          <a:p>
            <a:pPr marL="457200" lvl="1" indent="0" algn="l"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header("Content-Type: application/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json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");</a:t>
            </a:r>
          </a:p>
          <a:p>
            <a:pPr marL="457200" lvl="1" indent="0" algn="l"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header("Access-Control-Allow-Methods: GET, POST, PUT, DELETE");</a:t>
            </a:r>
          </a:p>
          <a:p>
            <a:pPr marL="457200" lvl="1" indent="0" algn="l"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header("Access-Control-Allow-Headers: Content-Type, Access-Control-Allow-Headers, Authorization, X-Requested-With");</a:t>
            </a:r>
          </a:p>
          <a:p>
            <a:endParaRPr lang="en-MM" dirty="0"/>
          </a:p>
        </p:txBody>
      </p:sp>
    </p:spTree>
    <p:extLst>
      <p:ext uri="{BB962C8B-B14F-4D97-AF65-F5344CB8AC3E}">
        <p14:creationId xmlns:p14="http://schemas.microsoft.com/office/powerpoint/2010/main" val="284307490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1CE10-AB66-DD72-B865-A5407B296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M" dirty="0"/>
              <a:t>Getting Request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DAF31-5691-DC7A-7801-176E4F731C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$data = </a:t>
            </a:r>
            <a:r>
              <a:rPr lang="en-US" dirty="0" err="1"/>
              <a:t>json_decode</a:t>
            </a:r>
            <a:r>
              <a:rPr lang="en-US" dirty="0"/>
              <a:t>(</a:t>
            </a:r>
            <a:r>
              <a:rPr lang="en-US" dirty="0" err="1"/>
              <a:t>file_get_contents</a:t>
            </a:r>
            <a:r>
              <a:rPr lang="en-US" dirty="0"/>
              <a:t>("</a:t>
            </a:r>
            <a:r>
              <a:rPr lang="en-US" dirty="0" err="1"/>
              <a:t>php</a:t>
            </a:r>
            <a:r>
              <a:rPr lang="en-US" dirty="0"/>
              <a:t>://input"));</a:t>
            </a:r>
          </a:p>
          <a:p>
            <a:r>
              <a:rPr lang="en-US" dirty="0"/>
              <a:t>$name = $data-&gt;name;</a:t>
            </a:r>
          </a:p>
          <a:p>
            <a:r>
              <a:rPr lang="en-US" dirty="0"/>
              <a:t>$email = $data-&gt;email;</a:t>
            </a:r>
          </a:p>
          <a:p>
            <a:r>
              <a:rPr lang="en-US" dirty="0"/>
              <a:t>$password = </a:t>
            </a:r>
            <a:r>
              <a:rPr lang="en-US" dirty="0" err="1"/>
              <a:t>password_hash</a:t>
            </a:r>
            <a:r>
              <a:rPr lang="en-US" dirty="0"/>
              <a:t>($data-&gt;password, PASSWORD_BCRYPT);</a:t>
            </a:r>
          </a:p>
          <a:p>
            <a:endParaRPr lang="en-US" dirty="0"/>
          </a:p>
          <a:p>
            <a:endParaRPr lang="en-MM" dirty="0"/>
          </a:p>
        </p:txBody>
      </p:sp>
    </p:spTree>
    <p:extLst>
      <p:ext uri="{BB962C8B-B14F-4D97-AF65-F5344CB8AC3E}">
        <p14:creationId xmlns:p14="http://schemas.microsoft.com/office/powerpoint/2010/main" val="293179018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46EE5-E4D6-8C7F-7FF8-C2388135D0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219977"/>
            <a:ext cx="12192000" cy="107286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4800" dirty="0">
                <a:latin typeface="Arial Rounded MT Bold" panose="020F0704030504030204" pitchFamily="34" charset="77"/>
              </a:rPr>
              <a:t>Lecture – 13 </a:t>
            </a:r>
            <a:br>
              <a:rPr lang="en-US" sz="4800" dirty="0">
                <a:latin typeface="Arial Rounded MT Bold" panose="020F0704030504030204" pitchFamily="34" charset="77"/>
              </a:rPr>
            </a:br>
            <a:r>
              <a:rPr lang="en-US" sz="4800" dirty="0">
                <a:latin typeface="Arial Rounded MT Bold" panose="020F0704030504030204" pitchFamily="34" charset="77"/>
              </a:rPr>
              <a:t>Routes in ReactJS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21F6E5-544E-F1C6-1C83-6F1C717490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50382" y="4783301"/>
            <a:ext cx="4763679" cy="817840"/>
          </a:xfrm>
        </p:spPr>
        <p:txBody>
          <a:bodyPr/>
          <a:lstStyle/>
          <a:p>
            <a:r>
              <a:rPr lang="en-US" dirty="0"/>
              <a:t>Dr. Myat Mon Aye(StudyRightNow)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F7755C-F253-69B2-7A94-C216D25068CF}"/>
              </a:ext>
            </a:extLst>
          </p:cNvPr>
          <p:cNvSpPr/>
          <p:nvPr/>
        </p:nvSpPr>
        <p:spPr>
          <a:xfrm>
            <a:off x="2612908" y="944414"/>
            <a:ext cx="6201153" cy="178510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1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>
                    <a:lumMod val="95000"/>
                  </a:schemeClr>
                </a:solidFill>
                <a:latin typeface="Cooper Black" panose="0208090404030B020404" pitchFamily="18" charset="0"/>
              </a:rPr>
              <a:t>ReactJS</a:t>
            </a:r>
            <a:endParaRPr lang="en-US" sz="11000" b="1" cap="none" spc="0" dirty="0">
              <a:ln w="22225">
                <a:solidFill>
                  <a:schemeClr val="tx1"/>
                </a:solidFill>
                <a:prstDash val="solid"/>
              </a:ln>
              <a:solidFill>
                <a:schemeClr val="bg1">
                  <a:lumMod val="95000"/>
                </a:schemeClr>
              </a:solidFill>
              <a:effectLst/>
              <a:latin typeface="Cooper Black" panose="0208090404030B0204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224D44-F470-FA84-BC7E-78CDDF1BD4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0131" y="1076775"/>
            <a:ext cx="1897922" cy="1690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320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>
        <p14:reveal/>
        <p:sndAc>
          <p:stSnd>
            <p:snd r:embed="rId2" name="Wavecont-Inspire-Full-Length-WAV.wav"/>
          </p:stSnd>
        </p:sndAc>
      </p:transition>
    </mc:Choice>
    <mc:Fallback xmlns="">
      <p:transition spd="slow">
        <p:fade/>
        <p:sndAc>
          <p:stSnd>
            <p:snd r:embed="rId4" name="Wavecont-Inspire-Full-Length-WAV.wav"/>
          </p:stSnd>
        </p:sndAc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3FC7A-CBF1-3508-5232-EFC075ADE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7E537-31D6-3FE6-FAD4-648CEBAC37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npm</a:t>
            </a:r>
            <a:r>
              <a:rPr lang="en-US" dirty="0"/>
              <a:t> install react-router-</a:t>
            </a:r>
            <a:r>
              <a:rPr lang="en-US" dirty="0" err="1"/>
              <a:t>dom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01665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755A4-F69A-CE77-3A86-DE6C72093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9B4F7-5868-7B3B-4D7E-E4BAA918A1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219977"/>
            <a:ext cx="12192000" cy="107286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4800" dirty="0">
                <a:latin typeface="Arial Rounded MT Bold" panose="020F0704030504030204" pitchFamily="34" charset="77"/>
              </a:rPr>
              <a:t>Lecture – 14 </a:t>
            </a:r>
            <a:br>
              <a:rPr lang="en-US" sz="4800" dirty="0">
                <a:latin typeface="Arial Rounded MT Bold" panose="020F0704030504030204" pitchFamily="34" charset="77"/>
              </a:rPr>
            </a:br>
            <a:r>
              <a:rPr lang="en-US" sz="4800" dirty="0">
                <a:latin typeface="Arial Rounded MT Bold" panose="020F0704030504030204" pitchFamily="34" charset="77"/>
              </a:rPr>
              <a:t>HTTP Request : Axios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CE0794-84A3-3822-D4E5-C915396D44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50382" y="4783301"/>
            <a:ext cx="4763679" cy="817840"/>
          </a:xfrm>
        </p:spPr>
        <p:txBody>
          <a:bodyPr/>
          <a:lstStyle/>
          <a:p>
            <a:r>
              <a:rPr lang="en-US" dirty="0"/>
              <a:t>Dr. Myat Mon Aye(StudyRightNow)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9F9856-0276-1F80-127A-7A09660EC795}"/>
              </a:ext>
            </a:extLst>
          </p:cNvPr>
          <p:cNvSpPr/>
          <p:nvPr/>
        </p:nvSpPr>
        <p:spPr>
          <a:xfrm>
            <a:off x="2612908" y="944414"/>
            <a:ext cx="6201153" cy="178510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1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>
                    <a:lumMod val="95000"/>
                  </a:schemeClr>
                </a:solidFill>
                <a:latin typeface="Cooper Black" panose="0208090404030B020404" pitchFamily="18" charset="0"/>
              </a:rPr>
              <a:t>ReactJS</a:t>
            </a:r>
            <a:endParaRPr lang="en-US" sz="11000" b="1" cap="none" spc="0" dirty="0">
              <a:ln w="22225">
                <a:solidFill>
                  <a:schemeClr val="tx1"/>
                </a:solidFill>
                <a:prstDash val="solid"/>
              </a:ln>
              <a:solidFill>
                <a:schemeClr val="bg1">
                  <a:lumMod val="95000"/>
                </a:schemeClr>
              </a:solidFill>
              <a:effectLst/>
              <a:latin typeface="Cooper Black" panose="0208090404030B0204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98C66F-E6EB-2751-504E-10AC21ECDD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0131" y="1076775"/>
            <a:ext cx="1897922" cy="1690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284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>
        <p14:reveal/>
        <p:sndAc>
          <p:stSnd>
            <p:snd r:embed="rId2" name="Wavecont-Inspire-Full-Length-WAV.wav"/>
          </p:stSnd>
        </p:sndAc>
      </p:transition>
    </mc:Choice>
    <mc:Fallback xmlns="">
      <p:transition spd="slow">
        <p:fade/>
        <p:sndAc>
          <p:stSnd>
            <p:snd r:embed="rId4" name="Wavecont-Inspire-Full-Length-WAV.wav"/>
          </p:stSnd>
        </p:sndAc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4518C-8805-9294-CF18-7F158C525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Axios?</a:t>
            </a:r>
            <a:endParaRPr lang="en-M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299C1-5D06-D2D9-63DB-0AEF4EDC8F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Promise-based HTTP client for </a:t>
            </a: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browser &amp; Node.js</a:t>
            </a:r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r>
              <a:rPr lang="en-US" dirty="0"/>
              <a:t>Simplifies API requests in JavaScript/React/Vue</a:t>
            </a:r>
          </a:p>
          <a:p>
            <a:r>
              <a:rPr lang="en-US" dirty="0"/>
              <a:t>Supports </a:t>
            </a: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GET, POST, PUT, DELETE</a:t>
            </a:r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r>
              <a:rPr lang="en-US" dirty="0"/>
              <a:t>Features: </a:t>
            </a: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Automatic JSON parsing, Error handling, Interceptors, Timeout, Configurable headers</a:t>
            </a:r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endParaRPr lang="en-MM" dirty="0"/>
          </a:p>
        </p:txBody>
      </p:sp>
    </p:spTree>
    <p:extLst>
      <p:ext uri="{BB962C8B-B14F-4D97-AF65-F5344CB8AC3E}">
        <p14:creationId xmlns:p14="http://schemas.microsoft.com/office/powerpoint/2010/main" val="3178063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04218-EC2B-FCD0-C8AF-394DF92C7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 and Usage</a:t>
            </a:r>
            <a:endParaRPr lang="en-M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8120B-15C7-7374-CFDE-F670958709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000"/>
            <a:ext cx="11106150" cy="5181600"/>
          </a:xfrm>
        </p:spPr>
        <p:txBody>
          <a:bodyPr numCol="1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2000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npm</a:t>
            </a:r>
            <a:r>
              <a:rPr lang="en-US" sz="20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install </a:t>
            </a:r>
            <a:r>
              <a:rPr lang="en-US" sz="2000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axios</a:t>
            </a:r>
            <a:endParaRPr lang="en-US" sz="20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2000" dirty="0"/>
              <a:t>const </a:t>
            </a:r>
            <a:r>
              <a:rPr lang="en-US" sz="2000" dirty="0" err="1"/>
              <a:t>handleSubmit</a:t>
            </a:r>
            <a:r>
              <a:rPr lang="en-US" sz="2000" dirty="0"/>
              <a:t> = async (e) =&gt; {</a:t>
            </a:r>
          </a:p>
          <a:p>
            <a:pPr marL="0" indent="0" algn="l">
              <a:buNone/>
            </a:pPr>
            <a:r>
              <a:rPr lang="en-US" sz="2000" dirty="0"/>
              <a:t>    </a:t>
            </a:r>
            <a:r>
              <a:rPr lang="en-US" sz="2000" dirty="0" err="1"/>
              <a:t>e.preventDefault</a:t>
            </a:r>
            <a:r>
              <a:rPr lang="en-US" sz="2000" dirty="0"/>
              <a:t>();</a:t>
            </a:r>
          </a:p>
          <a:p>
            <a:pPr marL="0" indent="0" algn="l">
              <a:buNone/>
            </a:pPr>
            <a:r>
              <a:rPr lang="en-US" sz="2000" dirty="0"/>
              <a:t>    try {</a:t>
            </a:r>
          </a:p>
          <a:p>
            <a:pPr marL="0" indent="0" algn="l">
              <a:buNone/>
            </a:pPr>
            <a:r>
              <a:rPr lang="en-US" sz="2000" dirty="0"/>
              <a:t>      const res = await </a:t>
            </a:r>
            <a:r>
              <a:rPr lang="en-US" sz="2000" dirty="0" err="1"/>
              <a:t>axios.post</a:t>
            </a:r>
            <a:r>
              <a:rPr lang="en-US" sz="2000" dirty="0"/>
              <a:t>("http://localhost/backend/register.php", </a:t>
            </a:r>
            <a:r>
              <a:rPr lang="en-US" sz="2000" dirty="0" err="1"/>
              <a:t>formData</a:t>
            </a:r>
            <a:r>
              <a:rPr lang="en-US" sz="2000" dirty="0"/>
              <a:t>, {</a:t>
            </a:r>
          </a:p>
          <a:p>
            <a:pPr marL="0" indent="0" algn="l">
              <a:buNone/>
            </a:pPr>
            <a:r>
              <a:rPr lang="en-US" sz="2000" dirty="0"/>
              <a:t>        headers: { "Content-Type": "application/</a:t>
            </a:r>
            <a:r>
              <a:rPr lang="en-US" sz="2000" dirty="0" err="1"/>
              <a:t>json</a:t>
            </a:r>
            <a:r>
              <a:rPr lang="en-US" sz="2000" dirty="0"/>
              <a:t>" }</a:t>
            </a:r>
          </a:p>
          <a:p>
            <a:pPr marL="0" indent="0" algn="l">
              <a:buNone/>
            </a:pPr>
            <a:r>
              <a:rPr lang="en-US" sz="2000" dirty="0"/>
              <a:t>      });</a:t>
            </a:r>
          </a:p>
          <a:p>
            <a:pPr marL="0" indent="0" algn="l">
              <a:buNone/>
            </a:pPr>
            <a:r>
              <a:rPr lang="en-US" sz="2000" dirty="0"/>
              <a:t>      </a:t>
            </a:r>
            <a:r>
              <a:rPr lang="en-US" sz="2000" dirty="0" err="1"/>
              <a:t>setMessage</a:t>
            </a:r>
            <a:r>
              <a:rPr lang="en-US" sz="2000" dirty="0"/>
              <a:t>(</a:t>
            </a:r>
            <a:r>
              <a:rPr lang="en-US" sz="2000" dirty="0" err="1"/>
              <a:t>res.data.message</a:t>
            </a:r>
            <a:r>
              <a:rPr lang="en-US" sz="2000" dirty="0"/>
              <a:t>);</a:t>
            </a:r>
          </a:p>
          <a:p>
            <a:pPr marL="0" indent="0" algn="l">
              <a:buNone/>
            </a:pPr>
            <a:r>
              <a:rPr lang="en-US" sz="2000" dirty="0"/>
              <a:t>    } catch (error) {</a:t>
            </a:r>
          </a:p>
          <a:p>
            <a:pPr marL="0" indent="0" algn="l">
              <a:buNone/>
            </a:pPr>
            <a:r>
              <a:rPr lang="en-US" sz="2000" dirty="0"/>
              <a:t>      </a:t>
            </a:r>
            <a:r>
              <a:rPr lang="en-US" sz="2000" dirty="0" err="1"/>
              <a:t>setMessage</a:t>
            </a:r>
            <a:r>
              <a:rPr lang="en-US" sz="2000" dirty="0"/>
              <a:t>("Error during registration");</a:t>
            </a:r>
          </a:p>
          <a:p>
            <a:pPr marL="0" indent="0" algn="l">
              <a:buNone/>
            </a:pPr>
            <a:r>
              <a:rPr lang="en-US" sz="2000" dirty="0"/>
              <a:t>    }</a:t>
            </a:r>
          </a:p>
          <a:p>
            <a:pPr marL="0" indent="0" algn="l">
              <a:buNone/>
            </a:pPr>
            <a:r>
              <a:rPr lang="en-US" sz="2000" dirty="0"/>
              <a:t>  };</a:t>
            </a:r>
            <a:endParaRPr lang="en-MM" sz="2000" dirty="0"/>
          </a:p>
        </p:txBody>
      </p:sp>
    </p:spTree>
    <p:extLst>
      <p:ext uri="{BB962C8B-B14F-4D97-AF65-F5344CB8AC3E}">
        <p14:creationId xmlns:p14="http://schemas.microsoft.com/office/powerpoint/2010/main" val="348329892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2DDE6-94B1-F778-66B3-6DF44422F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M" dirty="0"/>
              <a:t>Fetch API vs. Axios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D707EE2-6A9D-4F8D-B9E1-B8F1E5243C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6875140"/>
              </p:ext>
            </p:extLst>
          </p:nvPr>
        </p:nvGraphicFramePr>
        <p:xfrm>
          <a:off x="838200" y="1733493"/>
          <a:ext cx="10515600" cy="33120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37836237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88414023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513884324"/>
                    </a:ext>
                  </a:extLst>
                </a:gridCol>
              </a:tblGrid>
              <a:tr h="4140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Feature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Fetch API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Axios</a:t>
                      </a:r>
                      <a:endParaRPr lang="en-US" b="1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995937"/>
                  </a:ext>
                </a:extLst>
              </a:tr>
              <a:tr h="414000">
                <a:tc>
                  <a:txBody>
                    <a:bodyPr/>
                    <a:lstStyle/>
                    <a:p>
                      <a:r>
                        <a:rPr lang="en-US" b="0">
                          <a:solidFill>
                            <a:schemeClr val="bg1"/>
                          </a:solidFill>
                        </a:rPr>
                        <a:t>Built-in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MM" b="0" dirty="0">
                          <a:solidFill>
                            <a:schemeClr val="bg1"/>
                          </a:solidFill>
                        </a:rPr>
                        <a:t>✅ </a:t>
                      </a:r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Browser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MM" b="0">
                          <a:solidFill>
                            <a:schemeClr val="bg1"/>
                          </a:solidFill>
                        </a:rPr>
                        <a:t>❌ </a:t>
                      </a:r>
                      <a:r>
                        <a:rPr lang="en-US" b="0">
                          <a:solidFill>
                            <a:schemeClr val="bg1"/>
                          </a:solidFill>
                        </a:rPr>
                        <a:t>Needs install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4927898"/>
                  </a:ext>
                </a:extLst>
              </a:tr>
              <a:tr h="414000">
                <a:tc>
                  <a:txBody>
                    <a:bodyPr/>
                    <a:lstStyle/>
                    <a:p>
                      <a:r>
                        <a:rPr lang="en-US" b="0">
                          <a:solidFill>
                            <a:schemeClr val="bg1"/>
                          </a:solidFill>
                        </a:rPr>
                        <a:t>Syntax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solidFill>
                            <a:schemeClr val="bg1"/>
                          </a:solidFill>
                        </a:rPr>
                        <a:t>Verbose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solidFill>
                            <a:schemeClr val="bg1"/>
                          </a:solidFill>
                        </a:rPr>
                        <a:t>Clean &amp; concise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3272796"/>
                  </a:ext>
                </a:extLst>
              </a:tr>
              <a:tr h="414000">
                <a:tc>
                  <a:txBody>
                    <a:bodyPr/>
                    <a:lstStyle/>
                    <a:p>
                      <a:r>
                        <a:rPr lang="en-US" b="0">
                          <a:solidFill>
                            <a:schemeClr val="bg1"/>
                          </a:solidFill>
                        </a:rPr>
                        <a:t>Error Handling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solidFill>
                            <a:schemeClr val="bg1"/>
                          </a:solidFill>
                        </a:rPr>
                        <a:t>Manual (response.ok)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solidFill>
                            <a:schemeClr val="bg1"/>
                          </a:solidFill>
                        </a:rPr>
                        <a:t>Automatic (handles HTTP errors)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2134074"/>
                  </a:ext>
                </a:extLst>
              </a:tr>
              <a:tr h="414000">
                <a:tc>
                  <a:txBody>
                    <a:bodyPr/>
                    <a:lstStyle/>
                    <a:p>
                      <a:r>
                        <a:rPr lang="en-US" b="0">
                          <a:solidFill>
                            <a:schemeClr val="bg1"/>
                          </a:solidFill>
                        </a:rPr>
                        <a:t>JSON Parsing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solidFill>
                            <a:schemeClr val="bg1"/>
                          </a:solidFill>
                        </a:rPr>
                        <a:t>res.json() needed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solidFill>
                            <a:schemeClr val="bg1"/>
                          </a:solidFill>
                        </a:rPr>
                        <a:t>Auto (res.data)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4545852"/>
                  </a:ext>
                </a:extLst>
              </a:tr>
              <a:tr h="414000">
                <a:tc>
                  <a:txBody>
                    <a:bodyPr/>
                    <a:lstStyle/>
                    <a:p>
                      <a:r>
                        <a:rPr lang="en-US" b="0">
                          <a:solidFill>
                            <a:schemeClr val="bg1"/>
                          </a:solidFill>
                        </a:rPr>
                        <a:t>Config &amp; Interceptors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solidFill>
                            <a:schemeClr val="bg1"/>
                          </a:solidFill>
                        </a:rPr>
                        <a:t>Limited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MM" b="0">
                          <a:solidFill>
                            <a:schemeClr val="bg1"/>
                          </a:solidFill>
                        </a:rPr>
                        <a:t>✅ </a:t>
                      </a:r>
                      <a:r>
                        <a:rPr lang="en-US" b="0">
                          <a:solidFill>
                            <a:schemeClr val="bg1"/>
                          </a:solidFill>
                        </a:rPr>
                        <a:t>Supported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6850802"/>
                  </a:ext>
                </a:extLst>
              </a:tr>
              <a:tr h="414000">
                <a:tc>
                  <a:txBody>
                    <a:bodyPr/>
                    <a:lstStyle/>
                    <a:p>
                      <a:r>
                        <a:rPr lang="en-US" b="0">
                          <a:solidFill>
                            <a:schemeClr val="bg1"/>
                          </a:solidFill>
                        </a:rPr>
                        <a:t>Timeout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solidFill>
                            <a:schemeClr val="bg1"/>
                          </a:solidFill>
                        </a:rPr>
                        <a:t>Manual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MM" b="0">
                          <a:solidFill>
                            <a:schemeClr val="bg1"/>
                          </a:solidFill>
                        </a:rPr>
                        <a:t>✅ </a:t>
                      </a:r>
                      <a:r>
                        <a:rPr lang="en-US" b="0">
                          <a:solidFill>
                            <a:schemeClr val="bg1"/>
                          </a:solidFill>
                        </a:rPr>
                        <a:t>Supported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9675927"/>
                  </a:ext>
                </a:extLst>
              </a:tr>
              <a:tr h="414000">
                <a:tc>
                  <a:txBody>
                    <a:bodyPr/>
                    <a:lstStyle/>
                    <a:p>
                      <a:r>
                        <a:rPr lang="en-US" b="0">
                          <a:solidFill>
                            <a:schemeClr val="bg1"/>
                          </a:solidFill>
                        </a:rPr>
                        <a:t>Node.js Support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MM" b="0">
                          <a:solidFill>
                            <a:schemeClr val="bg1"/>
                          </a:solidFill>
                        </a:rPr>
                        <a:t>❌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MM" b="0" dirty="0">
                          <a:solidFill>
                            <a:schemeClr val="bg1"/>
                          </a:solidFill>
                        </a:rPr>
                        <a:t>✅ </a:t>
                      </a:r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Supported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213427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0B1C8B8-32DD-F7C4-D3B5-CD7A3F42FD94}"/>
              </a:ext>
            </a:extLst>
          </p:cNvPr>
          <p:cNvSpPr txBox="1"/>
          <p:nvPr/>
        </p:nvSpPr>
        <p:spPr>
          <a:xfrm>
            <a:off x="742950" y="5280419"/>
            <a:ext cx="10515600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§"/>
            </a:pP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Axios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shorter, readable, error handling easier, supports headers/interceptors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§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Fetch: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built-in, good for small scripts, requires manual JSON parsing &amp; error handling</a:t>
            </a:r>
          </a:p>
        </p:txBody>
      </p:sp>
    </p:spTree>
    <p:extLst>
      <p:ext uri="{BB962C8B-B14F-4D97-AF65-F5344CB8AC3E}">
        <p14:creationId xmlns:p14="http://schemas.microsoft.com/office/powerpoint/2010/main" val="424148734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E3D93-C0B2-B0D5-3608-C877AEF31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Axios</a:t>
            </a:r>
            <a:r>
              <a:rPr lang="en-US" dirty="0"/>
              <a:t> Advanced Features</a:t>
            </a:r>
            <a:endParaRPr lang="en-M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DDE39-B32D-D931-0074-DF84653310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298" y="1771650"/>
            <a:ext cx="10096501" cy="440531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const </a:t>
            </a:r>
            <a:r>
              <a:rPr lang="en-US" dirty="0" err="1"/>
              <a:t>api</a:t>
            </a:r>
            <a:r>
              <a:rPr lang="en-US" dirty="0"/>
              <a:t> = </a:t>
            </a:r>
            <a:r>
              <a:rPr lang="en-US" dirty="0" err="1"/>
              <a:t>axios.create</a:t>
            </a:r>
            <a:r>
              <a:rPr lang="en-US" dirty="0"/>
              <a:t>({ </a:t>
            </a:r>
            <a:r>
              <a:rPr lang="en-US" dirty="0" err="1"/>
              <a:t>baseURL</a:t>
            </a:r>
            <a:r>
              <a:rPr lang="en-US" dirty="0"/>
              <a:t>: 'https://</a:t>
            </a:r>
            <a:r>
              <a:rPr lang="en-US" dirty="0" err="1"/>
              <a:t>api.com</a:t>
            </a:r>
            <a:r>
              <a:rPr lang="en-US" dirty="0"/>
              <a:t>', timeout: 10000 });</a:t>
            </a:r>
          </a:p>
          <a:p>
            <a:pPr marL="0" indent="0">
              <a:buNone/>
            </a:pPr>
            <a:r>
              <a:rPr lang="en-US" dirty="0" err="1"/>
              <a:t>api.interceptors.response.use</a:t>
            </a:r>
            <a:r>
              <a:rPr lang="en-US" dirty="0"/>
              <a:t>(</a:t>
            </a:r>
          </a:p>
          <a:p>
            <a:pPr marL="0" indent="0">
              <a:buNone/>
            </a:pPr>
            <a:r>
              <a:rPr lang="en-US" dirty="0"/>
              <a:t>  res =&gt; res,</a:t>
            </a:r>
          </a:p>
          <a:p>
            <a:pPr marL="0" indent="0">
              <a:buNone/>
            </a:pPr>
            <a:r>
              <a:rPr lang="en-US" dirty="0"/>
              <a:t>  err =&gt; {</a:t>
            </a:r>
          </a:p>
          <a:p>
            <a:pPr marL="0" indent="0">
              <a:buNone/>
            </a:pPr>
            <a:r>
              <a:rPr lang="en-US" dirty="0"/>
              <a:t>    if (</a:t>
            </a:r>
            <a:r>
              <a:rPr lang="en-US" dirty="0" err="1"/>
              <a:t>err.response.status</a:t>
            </a:r>
            <a:r>
              <a:rPr lang="en-US" dirty="0"/>
              <a:t> === 401) </a:t>
            </a:r>
            <a:r>
              <a:rPr lang="en-US" dirty="0" err="1"/>
              <a:t>logoutUser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return </a:t>
            </a:r>
            <a:r>
              <a:rPr lang="en-US" dirty="0" err="1"/>
              <a:t>Promise.reject</a:t>
            </a:r>
            <a:r>
              <a:rPr lang="en-US" dirty="0"/>
              <a:t>(err);</a:t>
            </a:r>
          </a:p>
          <a:p>
            <a:pPr marL="0" indent="0">
              <a:buNone/>
            </a:pPr>
            <a:r>
              <a:rPr lang="en-US" dirty="0"/>
              <a:t>  }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endParaRPr lang="en-MM" dirty="0"/>
          </a:p>
        </p:txBody>
      </p:sp>
    </p:spTree>
    <p:extLst>
      <p:ext uri="{BB962C8B-B14F-4D97-AF65-F5344CB8AC3E}">
        <p14:creationId xmlns:p14="http://schemas.microsoft.com/office/powerpoint/2010/main" val="190970139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743F2-C89B-C0CA-2F1E-B3377A000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75F04-0CA6-267A-A985-9E45D7B34E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219977"/>
            <a:ext cx="12192000" cy="107286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4800" dirty="0">
                <a:latin typeface="Arial Rounded MT Bold" panose="020F0704030504030204" pitchFamily="34" charset="77"/>
              </a:rPr>
              <a:t>Lecture – 15 </a:t>
            </a:r>
            <a:br>
              <a:rPr lang="en-US" sz="4800" dirty="0">
                <a:latin typeface="Arial Rounded MT Bold" panose="020F0704030504030204" pitchFamily="34" charset="77"/>
              </a:rPr>
            </a:br>
            <a:r>
              <a:rPr lang="en-US" sz="4800" dirty="0">
                <a:latin typeface="Arial Rounded MT Bold" panose="020F0704030504030204" pitchFamily="34" charset="77"/>
              </a:rPr>
              <a:t>React + PHP Authentication using JWT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33414E-1D06-E8F3-650F-FCD2687B42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50382" y="4783301"/>
            <a:ext cx="4763679" cy="817840"/>
          </a:xfrm>
        </p:spPr>
        <p:txBody>
          <a:bodyPr/>
          <a:lstStyle/>
          <a:p>
            <a:r>
              <a:rPr lang="en-US" dirty="0"/>
              <a:t>Dr. Myat Mon Aye(StudyRightNow)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0DAAA3-6261-6CE2-CD00-8221529F507B}"/>
              </a:ext>
            </a:extLst>
          </p:cNvPr>
          <p:cNvSpPr/>
          <p:nvPr/>
        </p:nvSpPr>
        <p:spPr>
          <a:xfrm>
            <a:off x="2612908" y="944414"/>
            <a:ext cx="6201153" cy="178510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1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>
                    <a:lumMod val="95000"/>
                  </a:schemeClr>
                </a:solidFill>
                <a:latin typeface="Cooper Black" panose="0208090404030B020404" pitchFamily="18" charset="0"/>
              </a:rPr>
              <a:t>ReactJS</a:t>
            </a:r>
            <a:endParaRPr lang="en-US" sz="11000" b="1" cap="none" spc="0" dirty="0">
              <a:ln w="22225">
                <a:solidFill>
                  <a:schemeClr val="tx1"/>
                </a:solidFill>
                <a:prstDash val="solid"/>
              </a:ln>
              <a:solidFill>
                <a:schemeClr val="bg1">
                  <a:lumMod val="95000"/>
                </a:schemeClr>
              </a:solidFill>
              <a:effectLst/>
              <a:latin typeface="Cooper Black" panose="0208090404030B0204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9A97D8-5F48-A619-DF29-DA177FBD42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0131" y="1076775"/>
            <a:ext cx="1897922" cy="1690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210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>
        <p14:reveal/>
        <p:sndAc>
          <p:stSnd>
            <p:snd r:embed="rId2" name="Wavecont-Inspire-Full-Length-WAV.wav"/>
          </p:stSnd>
        </p:sndAc>
      </p:transition>
    </mc:Choice>
    <mc:Fallback xmlns="">
      <p:transition spd="slow">
        <p:fade/>
        <p:sndAc>
          <p:stSnd>
            <p:snd r:embed="rId4" name="Wavecont-Inspire-Full-Length-WAV.wav"/>
          </p:stSnd>
        </p:sndAc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DDECF-97C4-8CB3-BB92-ACA2BB247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firebase/</a:t>
            </a:r>
            <a:r>
              <a:rPr lang="en-US" dirty="0" err="1"/>
              <a:t>php-jwt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9371C-DC0D-476A-4991-A3C4AE29C4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firebase/</a:t>
            </a:r>
            <a:r>
              <a:rPr lang="en-US" dirty="0" err="1"/>
              <a:t>php-jwt</a:t>
            </a:r>
            <a:r>
              <a:rPr lang="en-US" dirty="0"/>
              <a:t> is a lightweight, open-source PHP library used for creating and verifying JSON Web Tokens (JWT).</a:t>
            </a:r>
          </a:p>
          <a:p>
            <a:r>
              <a:rPr lang="en-US" dirty="0"/>
              <a:t>A JWT acts as a user authentication token.</a:t>
            </a:r>
          </a:p>
          <a:p>
            <a:r>
              <a:rPr lang="en-US" dirty="0"/>
              <a:t>After a successful login, the server issues a token, and the frontend (React, mobile app, etc.) sends it back with every API request using the Bearer scheme.</a:t>
            </a:r>
          </a:p>
        </p:txBody>
      </p:sp>
    </p:spTree>
    <p:extLst>
      <p:ext uri="{BB962C8B-B14F-4D97-AF65-F5344CB8AC3E}">
        <p14:creationId xmlns:p14="http://schemas.microsoft.com/office/powerpoint/2010/main" val="79425905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748F2-C529-371B-1A4C-02EE77C8C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Main Functions of the Library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3CB6B4E-C470-B6EE-2E3C-F8B00FCA5F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4967465"/>
              </p:ext>
            </p:extLst>
          </p:nvPr>
        </p:nvGraphicFramePr>
        <p:xfrm>
          <a:off x="581025" y="2057400"/>
          <a:ext cx="10515600" cy="2418588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52620531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6858495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65760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000">
                          <a:solidFill>
                            <a:schemeClr val="bg1"/>
                          </a:solidFill>
                        </a:rPr>
                        <a:t>🔸 </a:t>
                      </a:r>
                      <a:r>
                        <a:rPr lang="en-US" sz="2000" b="1">
                          <a:solidFill>
                            <a:schemeClr val="bg1"/>
                          </a:solidFill>
                        </a:rPr>
                        <a:t>Encode (Generate Token)</a:t>
                      </a:r>
                      <a:endParaRPr lang="en-US" sz="20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Converts user data (payload) into a secure JWT using a secret key.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1814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000">
                          <a:solidFill>
                            <a:schemeClr val="bg1"/>
                          </a:solidFill>
                        </a:rPr>
                        <a:t>🔸 </a:t>
                      </a:r>
                      <a:r>
                        <a:rPr lang="en-US" sz="2000" b="1">
                          <a:solidFill>
                            <a:schemeClr val="bg1"/>
                          </a:solidFill>
                        </a:rPr>
                        <a:t>Decode (Verify Token)</a:t>
                      </a:r>
                      <a:endParaRPr lang="en-US" sz="20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Checks if the received token is valid and not expired.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33590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221404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23574-2319-8FB0-D9DD-D83F741D8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Installation (with Composer)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373CE-1FD4-8959-CB00-6EA8423D38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composer require firebase/</a:t>
            </a:r>
            <a:r>
              <a:rPr lang="en-US" dirty="0" err="1"/>
              <a:t>php-jwt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04631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3C78F-BF51-0E57-79A9-5C905E163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Encode Example (Token Creation)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87E8F-52D7-90E7-05BF-1D974CFA5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4652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/>
              <a:t>require 'vendor/</a:t>
            </a:r>
            <a:r>
              <a:rPr lang="en-US" sz="1600" dirty="0" err="1"/>
              <a:t>autoload.php</a:t>
            </a:r>
            <a:r>
              <a:rPr lang="en-US" sz="1600" dirty="0"/>
              <a:t>';</a:t>
            </a:r>
          </a:p>
          <a:p>
            <a:pPr marL="0" indent="0">
              <a:buNone/>
            </a:pPr>
            <a:r>
              <a:rPr lang="en-US" sz="1600" dirty="0"/>
              <a:t>use Firebase\JWT\JWT;</a:t>
            </a:r>
          </a:p>
          <a:p>
            <a:pPr marL="0" indent="0">
              <a:buNone/>
            </a:pPr>
            <a:r>
              <a:rPr lang="en-US" sz="1600" dirty="0"/>
              <a:t>$payload = [</a:t>
            </a:r>
          </a:p>
          <a:p>
            <a:pPr marL="0" indent="0">
              <a:buNone/>
            </a:pPr>
            <a:r>
              <a:rPr lang="en-US" sz="1600" dirty="0"/>
              <a:t>    'id' =&gt; 123,</a:t>
            </a:r>
          </a:p>
          <a:p>
            <a:pPr marL="0" indent="0">
              <a:buNone/>
            </a:pPr>
            <a:r>
              <a:rPr lang="en-US" sz="1600" dirty="0"/>
              <a:t>    'email' =&gt; 'user@example.com',</a:t>
            </a:r>
          </a:p>
          <a:p>
            <a:pPr marL="0" indent="0">
              <a:buNone/>
            </a:pPr>
            <a:r>
              <a:rPr lang="en-US" sz="1600" dirty="0"/>
              <a:t>    'exp' =&gt; time() + 3600 // token expires after 1 hour</a:t>
            </a:r>
          </a:p>
          <a:p>
            <a:pPr marL="0" indent="0">
              <a:buNone/>
            </a:pPr>
            <a:r>
              <a:rPr lang="en-US" sz="1600" dirty="0"/>
              <a:t>];</a:t>
            </a:r>
          </a:p>
          <a:p>
            <a:pPr marL="0" indent="0">
              <a:buNone/>
            </a:pPr>
            <a:r>
              <a:rPr lang="en-US" sz="1600" dirty="0"/>
              <a:t>$</a:t>
            </a:r>
            <a:r>
              <a:rPr lang="en-US" sz="1600" dirty="0" err="1"/>
              <a:t>secret_key</a:t>
            </a:r>
            <a:r>
              <a:rPr lang="en-US" sz="1600" dirty="0"/>
              <a:t> = "MY_SECRET_KEY";</a:t>
            </a:r>
          </a:p>
          <a:p>
            <a:pPr marL="0" indent="0">
              <a:buNone/>
            </a:pPr>
            <a:r>
              <a:rPr lang="en-US" sz="1600" dirty="0"/>
              <a:t>$</a:t>
            </a:r>
            <a:r>
              <a:rPr lang="en-US" sz="1600" dirty="0" err="1"/>
              <a:t>jwt</a:t>
            </a:r>
            <a:r>
              <a:rPr lang="en-US" sz="1600" dirty="0"/>
              <a:t> = JWT::encode($payload, $</a:t>
            </a:r>
            <a:r>
              <a:rPr lang="en-US" sz="1600" dirty="0" err="1"/>
              <a:t>secret_key</a:t>
            </a:r>
            <a:r>
              <a:rPr lang="en-US" sz="1600" dirty="0"/>
              <a:t>, 'HS256');</a:t>
            </a:r>
          </a:p>
          <a:p>
            <a:pPr marL="0" indent="0">
              <a:buNone/>
            </a:pPr>
            <a:r>
              <a:rPr lang="en-US" sz="1600" dirty="0"/>
              <a:t>echo $</a:t>
            </a:r>
            <a:r>
              <a:rPr lang="en-US" sz="1600" dirty="0" err="1"/>
              <a:t>jwt</a:t>
            </a:r>
            <a:r>
              <a:rPr lang="en-US" sz="1600" dirty="0"/>
              <a:t>;</a:t>
            </a:r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70818161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EB209-BB44-E47C-5140-141A819C8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Decode Example (Token Verification)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0BD5D-426E-1535-AC23-A17984878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0350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/>
              <a:t>require 'vendor/</a:t>
            </a:r>
            <a:r>
              <a:rPr lang="en-US" sz="1600" dirty="0" err="1"/>
              <a:t>autoload.php</a:t>
            </a:r>
            <a:r>
              <a:rPr lang="en-US" sz="1600" dirty="0"/>
              <a:t>';</a:t>
            </a:r>
          </a:p>
          <a:p>
            <a:pPr marL="0" indent="0">
              <a:buNone/>
            </a:pPr>
            <a:r>
              <a:rPr lang="en-US" sz="1600" dirty="0"/>
              <a:t>use Firebase\JWT\JWT;</a:t>
            </a:r>
          </a:p>
          <a:p>
            <a:pPr marL="0" indent="0">
              <a:buNone/>
            </a:pPr>
            <a:r>
              <a:rPr lang="en-US" sz="1600" dirty="0"/>
              <a:t>use Firebase\JWT\Key;</a:t>
            </a:r>
          </a:p>
          <a:p>
            <a:pPr marL="0" indent="0">
              <a:buNone/>
            </a:pPr>
            <a:r>
              <a:rPr lang="en-US" sz="1600" dirty="0"/>
              <a:t>$token = "eyJ0eXAiOiJKV1QiLCJhbGciOiJIUzI1NiJ9...";</a:t>
            </a:r>
          </a:p>
          <a:p>
            <a:pPr marL="0" indent="0">
              <a:buNone/>
            </a:pPr>
            <a:r>
              <a:rPr lang="en-US" sz="1600" dirty="0"/>
              <a:t>$</a:t>
            </a:r>
            <a:r>
              <a:rPr lang="en-US" sz="1600" dirty="0" err="1"/>
              <a:t>secret_key</a:t>
            </a:r>
            <a:r>
              <a:rPr lang="en-US" sz="1600" dirty="0"/>
              <a:t> = "MY_SECRET_KEY";</a:t>
            </a:r>
          </a:p>
          <a:p>
            <a:pPr marL="0" indent="0">
              <a:buNone/>
            </a:pPr>
            <a:r>
              <a:rPr lang="en-US" sz="1600" dirty="0"/>
              <a:t>try {</a:t>
            </a:r>
          </a:p>
          <a:p>
            <a:pPr marL="0" indent="0">
              <a:buNone/>
            </a:pPr>
            <a:r>
              <a:rPr lang="en-US" sz="1600" dirty="0"/>
              <a:t>    $decoded = JWT::decode($token, new Key($</a:t>
            </a:r>
            <a:r>
              <a:rPr lang="en-US" sz="1600" dirty="0" err="1"/>
              <a:t>secret_key</a:t>
            </a:r>
            <a:r>
              <a:rPr lang="en-US" sz="1600" dirty="0"/>
              <a:t>, 'HS256'));</a:t>
            </a:r>
          </a:p>
          <a:p>
            <a:pPr marL="0" indent="0">
              <a:buNone/>
            </a:pPr>
            <a:r>
              <a:rPr lang="en-US" sz="1600" dirty="0"/>
              <a:t>    </a:t>
            </a:r>
            <a:r>
              <a:rPr lang="en-US" sz="1600" dirty="0" err="1"/>
              <a:t>print_r</a:t>
            </a:r>
            <a:r>
              <a:rPr lang="en-US" sz="1600" dirty="0"/>
              <a:t>($decoded);</a:t>
            </a:r>
          </a:p>
          <a:p>
            <a:pPr marL="0" indent="0">
              <a:buNone/>
            </a:pPr>
            <a:r>
              <a:rPr lang="en-US" sz="1600" dirty="0"/>
              <a:t>} catch (Exception $e) {</a:t>
            </a:r>
          </a:p>
          <a:p>
            <a:pPr marL="0" indent="0">
              <a:buNone/>
            </a:pPr>
            <a:r>
              <a:rPr lang="en-US" sz="1600" dirty="0"/>
              <a:t>    echo "Invalid token: " . $e-&gt;</a:t>
            </a:r>
            <a:r>
              <a:rPr lang="en-US" sz="1600" dirty="0" err="1"/>
              <a:t>getMessage</a:t>
            </a:r>
            <a:r>
              <a:rPr lang="en-US" sz="1600" dirty="0"/>
              <a:t>();</a:t>
            </a:r>
          </a:p>
          <a:p>
            <a:pPr marL="0" indent="0">
              <a:buNone/>
            </a:pPr>
            <a:r>
              <a:rPr lang="en-US" sz="1600" dirty="0"/>
              <a:t>}</a:t>
            </a:r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22152548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35C7D-1721-4167-92EA-E21E19984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JWT Token Structure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16A23AA-C5E5-3724-22C1-224ED3D286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8745041"/>
              </p:ext>
            </p:extLst>
          </p:nvPr>
        </p:nvGraphicFramePr>
        <p:xfrm>
          <a:off x="904875" y="3263274"/>
          <a:ext cx="6296025" cy="1463040"/>
        </p:xfrm>
        <a:graphic>
          <a:graphicData uri="http://schemas.openxmlformats.org/drawingml/2006/table">
            <a:tbl>
              <a:tblPr/>
              <a:tblGrid>
                <a:gridCol w="1220425">
                  <a:extLst>
                    <a:ext uri="{9D8B030D-6E8A-4147-A177-3AD203B41FA5}">
                      <a16:colId xmlns:a16="http://schemas.microsoft.com/office/drawing/2014/main" val="69274040"/>
                    </a:ext>
                  </a:extLst>
                </a:gridCol>
                <a:gridCol w="5075600">
                  <a:extLst>
                    <a:ext uri="{9D8B030D-6E8A-4147-A177-3AD203B41FA5}">
                      <a16:colId xmlns:a16="http://schemas.microsoft.com/office/drawing/2014/main" val="3534550492"/>
                    </a:ext>
                  </a:extLst>
                </a:gridCol>
              </a:tblGrid>
              <a:tr h="3327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4548271"/>
                  </a:ext>
                </a:extLst>
              </a:tr>
              <a:tr h="3589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 info (HS256, etc.)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0564113"/>
                  </a:ext>
                </a:extLst>
              </a:tr>
              <a:tr h="3589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Payload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data (ID, email, expiration time)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7294897"/>
                  </a:ext>
                </a:extLst>
              </a:tr>
              <a:tr h="3589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Hashed verification using secret key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5608082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451B02E4-BD82-696E-52AF-2007CECE65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143553"/>
            <a:ext cx="10706100" cy="8373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JWTs are simple strings divided into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three parts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xxxxx.yyyyy.zzzzz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3799042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743F2-C89B-C0CA-2F1E-B3377A000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75F04-0CA6-267A-A985-9E45D7B34E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219977"/>
            <a:ext cx="12192000" cy="107286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4800" dirty="0">
                <a:latin typeface="Arial Rounded MT Bold" panose="020F0704030504030204" pitchFamily="34" charset="77"/>
              </a:rPr>
              <a:t>Lecture – 16 </a:t>
            </a:r>
            <a:br>
              <a:rPr lang="en-US" sz="4800" dirty="0">
                <a:latin typeface="Arial Rounded MT Bold" panose="020F0704030504030204" pitchFamily="34" charset="77"/>
              </a:rPr>
            </a:br>
            <a:r>
              <a:rPr lang="en-US" sz="4800" dirty="0" err="1">
                <a:latin typeface="Arial Rounded MT Bold" panose="020F0704030504030204" pitchFamily="34" charset="77"/>
              </a:rPr>
              <a:t>Axios</a:t>
            </a:r>
            <a:r>
              <a:rPr lang="en-US" sz="4800" dirty="0">
                <a:latin typeface="Arial Rounded MT Bold" panose="020F0704030504030204" pitchFamily="34" charset="77"/>
              </a:rPr>
              <a:t> Interceptors Essentials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33414E-1D06-E8F3-650F-FCD2687B42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50382" y="4963385"/>
            <a:ext cx="4763679" cy="817840"/>
          </a:xfrm>
        </p:spPr>
        <p:txBody>
          <a:bodyPr/>
          <a:lstStyle/>
          <a:p>
            <a:r>
              <a:rPr lang="en-US" dirty="0"/>
              <a:t>Dr. Myat Mon Aye(StudyRightNow)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0DAAA3-6261-6CE2-CD00-8221529F507B}"/>
              </a:ext>
            </a:extLst>
          </p:cNvPr>
          <p:cNvSpPr/>
          <p:nvPr/>
        </p:nvSpPr>
        <p:spPr>
          <a:xfrm>
            <a:off x="2612908" y="944414"/>
            <a:ext cx="6201153" cy="178510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1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>
                    <a:lumMod val="95000"/>
                  </a:schemeClr>
                </a:solidFill>
                <a:latin typeface="Cooper Black" panose="0208090404030B020404" pitchFamily="18" charset="0"/>
              </a:rPr>
              <a:t>ReactJS</a:t>
            </a:r>
            <a:endParaRPr lang="en-US" sz="11000" b="1" cap="none" spc="0" dirty="0">
              <a:ln w="22225">
                <a:solidFill>
                  <a:schemeClr val="tx1"/>
                </a:solidFill>
                <a:prstDash val="solid"/>
              </a:ln>
              <a:solidFill>
                <a:schemeClr val="bg1">
                  <a:lumMod val="95000"/>
                </a:schemeClr>
              </a:solidFill>
              <a:effectLst/>
              <a:latin typeface="Cooper Black" panose="0208090404030B0204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9A97D8-5F48-A619-DF29-DA177FBD42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0131" y="1076775"/>
            <a:ext cx="1897922" cy="1690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577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>
        <p14:reveal/>
        <p:sndAc>
          <p:stSnd>
            <p:snd r:embed="rId2" name="Wavecont-Inspire-Full-Length-WAV.wav"/>
          </p:stSnd>
        </p:sndAc>
      </p:transition>
    </mc:Choice>
    <mc:Fallback xmlns="">
      <p:transition spd="slow">
        <p:fade/>
        <p:sndAc>
          <p:stSnd>
            <p:snd r:embed="rId4" name="Wavecont-Inspire-Full-Length-WAV.wav"/>
          </p:stSnd>
        </p:sndAc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A1DA9-A6D0-4AF4-1250-CC9000C7D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M" dirty="0"/>
              <a:t>Axios Interceptors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59141-E5A8-0C6C-02A9-C82D180D0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3214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axios</a:t>
            </a:r>
            <a:r>
              <a:rPr lang="en-US" dirty="0"/>
              <a:t> from "</a:t>
            </a:r>
            <a:r>
              <a:rPr lang="en-US" dirty="0" err="1"/>
              <a:t>axios</a:t>
            </a:r>
            <a:r>
              <a:rPr lang="en-US" dirty="0"/>
              <a:t>";</a:t>
            </a:r>
          </a:p>
          <a:p>
            <a:pPr marL="0" indent="0">
              <a:buNone/>
            </a:pPr>
            <a:r>
              <a:rPr lang="en-US" dirty="0" err="1"/>
              <a:t>axios.interceptors.request.use</a:t>
            </a:r>
            <a:r>
              <a:rPr lang="en-US" dirty="0"/>
              <a:t>(config =&gt; {</a:t>
            </a:r>
          </a:p>
          <a:p>
            <a:pPr marL="0" indent="0">
              <a:buNone/>
            </a:pPr>
            <a:r>
              <a:rPr lang="en-US" dirty="0"/>
              <a:t>  const token = </a:t>
            </a:r>
            <a:r>
              <a:rPr lang="en-US" dirty="0" err="1"/>
              <a:t>localStorage.getItem</a:t>
            </a:r>
            <a:r>
              <a:rPr lang="en-US" dirty="0"/>
              <a:t>("token");</a:t>
            </a:r>
          </a:p>
          <a:p>
            <a:pPr marL="0" indent="0">
              <a:buNone/>
            </a:pPr>
            <a:r>
              <a:rPr lang="en-US" dirty="0"/>
              <a:t>  if (token) 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config.headers.Authorization</a:t>
            </a:r>
            <a:r>
              <a:rPr lang="en-US" dirty="0"/>
              <a:t> = `Bearer ${token}`;</a:t>
            </a:r>
          </a:p>
          <a:p>
            <a:pPr marL="0" indent="0">
              <a:buNone/>
            </a:pPr>
            <a:r>
              <a:rPr lang="en-US" dirty="0"/>
              <a:t>  }</a:t>
            </a:r>
          </a:p>
          <a:p>
            <a:pPr marL="0" indent="0">
              <a:buNone/>
            </a:pPr>
            <a:r>
              <a:rPr lang="en-US" dirty="0"/>
              <a:t>  return config;</a:t>
            </a:r>
          </a:p>
          <a:p>
            <a:pPr marL="0" indent="0">
              <a:buNone/>
            </a:pPr>
            <a:r>
              <a:rPr lang="en-US" dirty="0"/>
              <a:t>});</a:t>
            </a:r>
          </a:p>
          <a:p>
            <a:pPr marL="0" indent="0">
              <a:buNone/>
            </a:pPr>
            <a:r>
              <a:rPr lang="en-US" dirty="0"/>
              <a:t>export default </a:t>
            </a:r>
            <a:r>
              <a:rPr lang="en-US" dirty="0" err="1"/>
              <a:t>axios</a:t>
            </a:r>
            <a:r>
              <a:rPr lang="en-US" dirty="0"/>
              <a:t>;</a:t>
            </a:r>
            <a:endParaRPr lang="en-MM" dirty="0"/>
          </a:p>
        </p:txBody>
      </p:sp>
    </p:spTree>
    <p:extLst>
      <p:ext uri="{BB962C8B-B14F-4D97-AF65-F5344CB8AC3E}">
        <p14:creationId xmlns:p14="http://schemas.microsoft.com/office/powerpoint/2010/main" val="225541364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8914C-A7A3-5D25-68F5-18611B6DB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M" dirty="0"/>
              <a:t>Authorization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64C3C-AA5F-0168-DCD2-ECC2A31C7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3359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$headers = </a:t>
            </a:r>
            <a:r>
              <a:rPr lang="en-US" dirty="0" err="1"/>
              <a:t>apache_request_headers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if (</a:t>
            </a:r>
            <a:r>
              <a:rPr lang="en-US" dirty="0" err="1"/>
              <a:t>isset</a:t>
            </a:r>
            <a:r>
              <a:rPr lang="en-US" dirty="0"/>
              <a:t>($headers['Authorization'])) {</a:t>
            </a:r>
          </a:p>
          <a:p>
            <a:pPr marL="0" indent="0">
              <a:buNone/>
            </a:pPr>
            <a:r>
              <a:rPr lang="en-US" dirty="0"/>
              <a:t>    $token = </a:t>
            </a:r>
            <a:r>
              <a:rPr lang="en-US" dirty="0" err="1"/>
              <a:t>str_replace</a:t>
            </a:r>
            <a:r>
              <a:rPr lang="en-US" dirty="0"/>
              <a:t>("Bearer ", "", $headers['Authorization']);</a:t>
            </a:r>
          </a:p>
          <a:p>
            <a:pPr marL="0" indent="0">
              <a:buNone/>
            </a:pPr>
            <a:r>
              <a:rPr lang="en-US" dirty="0"/>
              <a:t>    try {</a:t>
            </a:r>
          </a:p>
          <a:p>
            <a:pPr marL="0" indent="0">
              <a:buNone/>
            </a:pPr>
            <a:r>
              <a:rPr lang="en-US" dirty="0"/>
              <a:t>        $decoded = JWT::decode($token, new Key("MY_SECRET_KEY", 'HS256'));</a:t>
            </a:r>
          </a:p>
          <a:p>
            <a:pPr marL="0" indent="0">
              <a:buNone/>
            </a:pPr>
            <a:r>
              <a:rPr lang="en-US" dirty="0"/>
              <a:t>        echo </a:t>
            </a:r>
            <a:r>
              <a:rPr lang="en-US" dirty="0" err="1"/>
              <a:t>json_encode</a:t>
            </a:r>
            <a:r>
              <a:rPr lang="en-US" dirty="0"/>
              <a:t>(["success" =&gt; true, "message" =&gt; "Welcome, " . $decoded-&gt;email]);</a:t>
            </a:r>
          </a:p>
          <a:p>
            <a:pPr marL="0" indent="0">
              <a:buNone/>
            </a:pPr>
            <a:r>
              <a:rPr lang="en-US" dirty="0"/>
              <a:t>    } catch (Exception $e) {</a:t>
            </a:r>
          </a:p>
          <a:p>
            <a:pPr marL="0" indent="0">
              <a:buNone/>
            </a:pPr>
            <a:r>
              <a:rPr lang="en-US" dirty="0"/>
              <a:t>        echo </a:t>
            </a:r>
            <a:r>
              <a:rPr lang="en-US" dirty="0" err="1"/>
              <a:t>json_encode</a:t>
            </a:r>
            <a:r>
              <a:rPr lang="en-US" dirty="0"/>
              <a:t>(["success" =&gt; false, "message" =&gt; "Invalid token"]);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en-MM" dirty="0"/>
          </a:p>
        </p:txBody>
      </p:sp>
    </p:spTree>
    <p:extLst>
      <p:ext uri="{BB962C8B-B14F-4D97-AF65-F5344CB8AC3E}">
        <p14:creationId xmlns:p14="http://schemas.microsoft.com/office/powerpoint/2010/main" val="242689055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743F2-C89B-C0CA-2F1E-B3377A000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75F04-0CA6-267A-A985-9E45D7B34E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219977"/>
            <a:ext cx="12192000" cy="107286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4800" dirty="0">
                <a:latin typeface="Arial Rounded MT Bold" panose="020F0704030504030204" pitchFamily="34" charset="77"/>
              </a:rPr>
              <a:t>Lecture – 17 </a:t>
            </a:r>
            <a:br>
              <a:rPr lang="en-US" sz="4800" dirty="0">
                <a:latin typeface="Arial Rounded MT Bold" panose="020F0704030504030204" pitchFamily="34" charset="77"/>
              </a:rPr>
            </a:br>
            <a:r>
              <a:rPr lang="en-US" sz="4800" dirty="0">
                <a:latin typeface="Arial Rounded MT Bold" panose="020F0704030504030204" pitchFamily="34" charset="77"/>
              </a:rPr>
              <a:t>Working With Tailwind CSS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33414E-1D06-E8F3-650F-FCD2687B42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50382" y="4963385"/>
            <a:ext cx="4763679" cy="817840"/>
          </a:xfrm>
        </p:spPr>
        <p:txBody>
          <a:bodyPr/>
          <a:lstStyle/>
          <a:p>
            <a:r>
              <a:rPr lang="en-US" dirty="0"/>
              <a:t>Dr. Myat Mon Aye(StudyRightNow)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0DAAA3-6261-6CE2-CD00-8221529F507B}"/>
              </a:ext>
            </a:extLst>
          </p:cNvPr>
          <p:cNvSpPr/>
          <p:nvPr/>
        </p:nvSpPr>
        <p:spPr>
          <a:xfrm>
            <a:off x="2612908" y="944414"/>
            <a:ext cx="6201153" cy="178510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1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>
                    <a:lumMod val="95000"/>
                  </a:schemeClr>
                </a:solidFill>
                <a:latin typeface="Cooper Black" panose="0208090404030B020404" pitchFamily="18" charset="0"/>
              </a:rPr>
              <a:t>ReactJS</a:t>
            </a:r>
            <a:endParaRPr lang="en-US" sz="11000" b="1" cap="none" spc="0" dirty="0">
              <a:ln w="22225">
                <a:solidFill>
                  <a:schemeClr val="tx1"/>
                </a:solidFill>
                <a:prstDash val="solid"/>
              </a:ln>
              <a:solidFill>
                <a:schemeClr val="bg1">
                  <a:lumMod val="95000"/>
                </a:schemeClr>
              </a:solidFill>
              <a:effectLst/>
              <a:latin typeface="Cooper Black" panose="0208090404030B0204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9A97D8-5F48-A619-DF29-DA177FBD42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0131" y="1076775"/>
            <a:ext cx="1897922" cy="1690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37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>
        <p14:reveal/>
        <p:sndAc>
          <p:stSnd>
            <p:snd r:embed="rId2" name="Wavecont-Inspire-Full-Length-WAV.wav"/>
          </p:stSnd>
        </p:sndAc>
      </p:transition>
    </mc:Choice>
    <mc:Fallback xmlns="">
      <p:transition spd="slow">
        <p:fade/>
        <p:sndAc>
          <p:stSnd>
            <p:snd r:embed="rId4" name="Wavecont-Inspire-Full-Length-WAV.wav"/>
          </p:stSnd>
        </p:sndAc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743F2-C89B-C0CA-2F1E-B3377A000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75F04-0CA6-267A-A985-9E45D7B34E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219977"/>
            <a:ext cx="12192000" cy="107286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4800" dirty="0">
                <a:latin typeface="Arial Rounded MT Bold" panose="020F0704030504030204" pitchFamily="34" charset="77"/>
              </a:rPr>
              <a:t>Lecture – 18 </a:t>
            </a:r>
            <a:br>
              <a:rPr lang="en-US" sz="4800" dirty="0">
                <a:latin typeface="Arial Rounded MT Bold" panose="020F0704030504030204" pitchFamily="34" charset="77"/>
              </a:rPr>
            </a:br>
            <a:r>
              <a:rPr lang="en-US" sz="4000" dirty="0">
                <a:latin typeface="Arial Rounded MT Bold" panose="020F0704030504030204" pitchFamily="34" charset="77"/>
              </a:rPr>
              <a:t>React UI Component Libraries : </a:t>
            </a:r>
            <a:r>
              <a:rPr lang="en-US" sz="4000" dirty="0" err="1">
                <a:latin typeface="Arial Rounded MT Bold" panose="020F0704030504030204" pitchFamily="34" charset="77"/>
              </a:rPr>
              <a:t>Shadcn</a:t>
            </a:r>
            <a:r>
              <a:rPr lang="en-US" sz="4000" dirty="0">
                <a:latin typeface="Arial Rounded MT Bold" panose="020F0704030504030204" pitchFamily="34" charset="77"/>
              </a:rPr>
              <a:t> UI</a:t>
            </a:r>
            <a:br>
              <a:rPr lang="en-US" sz="4800" dirty="0">
                <a:latin typeface="Arial Rounded MT Bold" panose="020F0704030504030204" pitchFamily="34" charset="77"/>
              </a:rPr>
            </a:br>
            <a:endParaRPr lang="en-US" sz="4800" dirty="0">
              <a:latin typeface="Arial Rounded MT Bold" panose="020F0704030504030204" pitchFamily="34" charset="77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33414E-1D06-E8F3-650F-FCD2687B42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50382" y="4963385"/>
            <a:ext cx="4763679" cy="817840"/>
          </a:xfrm>
        </p:spPr>
        <p:txBody>
          <a:bodyPr/>
          <a:lstStyle/>
          <a:p>
            <a:r>
              <a:rPr lang="en-US" dirty="0"/>
              <a:t>Dr. Myat Mon Aye(StudyRightNow)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0DAAA3-6261-6CE2-CD00-8221529F507B}"/>
              </a:ext>
            </a:extLst>
          </p:cNvPr>
          <p:cNvSpPr/>
          <p:nvPr/>
        </p:nvSpPr>
        <p:spPr>
          <a:xfrm>
            <a:off x="2612908" y="944414"/>
            <a:ext cx="6201153" cy="178510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1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>
                    <a:lumMod val="95000"/>
                  </a:schemeClr>
                </a:solidFill>
                <a:latin typeface="Cooper Black" panose="0208090404030B020404" pitchFamily="18" charset="0"/>
              </a:rPr>
              <a:t>ReactJS</a:t>
            </a:r>
            <a:endParaRPr lang="en-US" sz="11000" b="1" cap="none" spc="0" dirty="0">
              <a:ln w="22225">
                <a:solidFill>
                  <a:schemeClr val="tx1"/>
                </a:solidFill>
                <a:prstDash val="solid"/>
              </a:ln>
              <a:solidFill>
                <a:schemeClr val="bg1">
                  <a:lumMod val="95000"/>
                </a:schemeClr>
              </a:solidFill>
              <a:effectLst/>
              <a:latin typeface="Cooper Black" panose="0208090404030B0204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9A97D8-5F48-A619-DF29-DA177FBD42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0131" y="1076775"/>
            <a:ext cx="1897922" cy="1690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744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>
        <p14:reveal/>
        <p:sndAc>
          <p:stSnd>
            <p:snd r:embed="rId2" name="Wavecont-Inspire-Full-Length-WAV.wav"/>
          </p:stSnd>
        </p:sndAc>
      </p:transition>
    </mc:Choice>
    <mc:Fallback xmlns="">
      <p:transition spd="slow">
        <p:fade/>
        <p:sndAc>
          <p:stSnd>
            <p:snd r:embed="rId4" name="Wavecont-Inspire-Full-Length-WAV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3135</TotalTime>
  <Words>3529</Words>
  <Application>Microsoft Macintosh PowerPoint</Application>
  <PresentationFormat>Widescreen</PresentationFormat>
  <Paragraphs>486</Paragraphs>
  <Slides>67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8" baseType="lpstr">
      <vt:lpstr>Arial Unicode MS</vt:lpstr>
      <vt:lpstr>-webkit-standard</vt:lpstr>
      <vt:lpstr>Arial</vt:lpstr>
      <vt:lpstr>Arial Rounded MT Bold</vt:lpstr>
      <vt:lpstr>Calibri</vt:lpstr>
      <vt:lpstr>Consolas</vt:lpstr>
      <vt:lpstr>Cooper Black</vt:lpstr>
      <vt:lpstr>Menlo</vt:lpstr>
      <vt:lpstr>Times New Roman</vt:lpstr>
      <vt:lpstr>Wingdings</vt:lpstr>
      <vt:lpstr>Office Theme</vt:lpstr>
      <vt:lpstr>Lecture - 0</vt:lpstr>
      <vt:lpstr>What is ReactJS?</vt:lpstr>
      <vt:lpstr>Components</vt:lpstr>
      <vt:lpstr>Boost performance with Virtual-DOM</vt:lpstr>
      <vt:lpstr>Friendly with SEO</vt:lpstr>
      <vt:lpstr>Creating ReactJS Project</vt:lpstr>
      <vt:lpstr>Create Components</vt:lpstr>
      <vt:lpstr>PowerPoint Presentation</vt:lpstr>
      <vt:lpstr>Lecture – 1 (Components)</vt:lpstr>
      <vt:lpstr>Class Component</vt:lpstr>
      <vt:lpstr>Class with PropTypes</vt:lpstr>
      <vt:lpstr>Component with props</vt:lpstr>
      <vt:lpstr>Destructuring</vt:lpstr>
      <vt:lpstr>Default Props</vt:lpstr>
      <vt:lpstr>Lecture – 2 (State)</vt:lpstr>
      <vt:lpstr>State</vt:lpstr>
      <vt:lpstr>State Cont’d </vt:lpstr>
      <vt:lpstr>State Cont’d</vt:lpstr>
      <vt:lpstr>Lecture – 3 (Ref)</vt:lpstr>
      <vt:lpstr>Reference - Ref</vt:lpstr>
      <vt:lpstr>Lecture – 4  (Choosing Ice Cream Toppings)</vt:lpstr>
      <vt:lpstr>Lecture – 5  (Component Life Cycle)</vt:lpstr>
      <vt:lpstr>Component Life Cycle</vt:lpstr>
      <vt:lpstr>Mount =&gt; update =&gt; unmount</vt:lpstr>
      <vt:lpstr>Lecture – 6 (Hook)</vt:lpstr>
      <vt:lpstr>What are React Hooks?</vt:lpstr>
      <vt:lpstr>Why Hook?</vt:lpstr>
      <vt:lpstr>Commonly Used Hooks</vt:lpstr>
      <vt:lpstr>Hook Rules</vt:lpstr>
      <vt:lpstr>useContext</vt:lpstr>
      <vt:lpstr>Lecture – 7 Hook (useMemo)</vt:lpstr>
      <vt:lpstr>useMemo</vt:lpstr>
      <vt:lpstr>Lecture – 8 Hooks (useCallback)</vt:lpstr>
      <vt:lpstr>React.memo</vt:lpstr>
      <vt:lpstr>useCallback</vt:lpstr>
      <vt:lpstr>Lecture – 9 Hooks (useReducer)</vt:lpstr>
      <vt:lpstr>useReducer</vt:lpstr>
      <vt:lpstr>Lecture – 10 Hooks (useLayoutEffect)</vt:lpstr>
      <vt:lpstr>useLayoutEffect</vt:lpstr>
      <vt:lpstr>useEffect</vt:lpstr>
      <vt:lpstr>Lecture – 11  Fetching Data from APIs in ReactJS</vt:lpstr>
      <vt:lpstr>What is Fetch API?</vt:lpstr>
      <vt:lpstr>Basic Syntax</vt:lpstr>
      <vt:lpstr>Using Fetch API with Async/Await</vt:lpstr>
      <vt:lpstr>Lecture – 12  Registration ( ReactJS + PHP)</vt:lpstr>
      <vt:lpstr>Send Data From ReactJS</vt:lpstr>
      <vt:lpstr>PHP Headers for ReactJS + PHP API</vt:lpstr>
      <vt:lpstr>Getting Request Data</vt:lpstr>
      <vt:lpstr>Lecture – 13  Routes in ReactJS</vt:lpstr>
      <vt:lpstr>PowerPoint Presentation</vt:lpstr>
      <vt:lpstr>Lecture – 14  HTTP Request : Axios</vt:lpstr>
      <vt:lpstr>What is Axios?</vt:lpstr>
      <vt:lpstr>Install and Usage</vt:lpstr>
      <vt:lpstr>Fetch API vs. Axios</vt:lpstr>
      <vt:lpstr>Axios Advanced Features</vt:lpstr>
      <vt:lpstr>Lecture – 15  React + PHP Authentication using JWT</vt:lpstr>
      <vt:lpstr>What is firebase/php-jwt?</vt:lpstr>
      <vt:lpstr>Main Functions of the Library</vt:lpstr>
      <vt:lpstr>Installation (with Composer)</vt:lpstr>
      <vt:lpstr>Encode Example (Token Creation)</vt:lpstr>
      <vt:lpstr>Decode Example (Token Verification)</vt:lpstr>
      <vt:lpstr>JWT Token Structure</vt:lpstr>
      <vt:lpstr>Lecture – 16  Axios Interceptors Essentials</vt:lpstr>
      <vt:lpstr>Axios Interceptors</vt:lpstr>
      <vt:lpstr>Authorization</vt:lpstr>
      <vt:lpstr>Lecture – 17  Working With Tailwind CSS</vt:lpstr>
      <vt:lpstr>Lecture – 18  React UI Component Libraries : Shadcn UI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- 0</dc:title>
  <dc:creator>DELL</dc:creator>
  <cp:lastModifiedBy>Myat Mon Aye</cp:lastModifiedBy>
  <cp:revision>37</cp:revision>
  <dcterms:created xsi:type="dcterms:W3CDTF">2025-10-01T02:51:28Z</dcterms:created>
  <dcterms:modified xsi:type="dcterms:W3CDTF">2025-12-13T13:21:24Z</dcterms:modified>
</cp:coreProperties>
</file>